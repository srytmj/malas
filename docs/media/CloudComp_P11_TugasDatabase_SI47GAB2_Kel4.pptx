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nva Sans" panose="020B0604020202020204" charset="0"/>
      <p:regular r:id="rId12"/>
    </p:embeddedFont>
    <p:embeddedFont>
      <p:font typeface="Canva Sans Bold" panose="020B0604020202020204" charset="0"/>
      <p:regular r:id="rId13"/>
    </p:embeddedFont>
    <p:embeddedFont>
      <p:font typeface="Heading Now 71-78" panose="020B0604020202020204" charset="0"/>
      <p:regular r:id="rId14"/>
    </p:embeddedFont>
    <p:embeddedFont>
      <p:font typeface="Poppins" panose="00000500000000000000" pitchFamily="2" charset="0"/>
      <p:regular r:id="rId15"/>
    </p:embeddedFont>
    <p:embeddedFont>
      <p:font typeface="Poppins Bold" panose="00000800000000000000" charset="0"/>
      <p:regular r:id="rId16"/>
    </p:embeddedFont>
    <p:embeddedFont>
      <p:font typeface="Poppins Italics" panose="020B0604020202020204" charset="0"/>
      <p:regular r:id="rId17"/>
    </p:embeddedFont>
    <p:embeddedFont>
      <p:font typeface="Poppins Semi-Bold" panose="020B0604020202020204" charset="0"/>
      <p:regular r:id="rId18"/>
    </p:embeddedFont>
    <p:embeddedFont>
      <p:font typeface="Poppins Semi-Bold Italics" panose="020B0604020202020204" charset="0"/>
      <p:regular r:id="rId19"/>
    </p:embeddedFont>
    <p:embeddedFont>
      <p:font typeface="TT Firs Neue" panose="020B0604020202020204" charset="0"/>
      <p:regular r:id="rId20"/>
    </p:embeddedFont>
    <p:embeddedFont>
      <p:font typeface="TT Firs Neue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9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10" Type="http://schemas.openxmlformats.org/officeDocument/2006/relationships/hyperlink" Target="https://www.ldpassociates.com/benefits-of-using-a-quality-server-rack/" TargetMode="External"/><Relationship Id="rId4" Type="http://schemas.openxmlformats.org/officeDocument/2006/relationships/image" Target="../media/image10.png"/><Relationship Id="rId9" Type="http://schemas.openxmlformats.org/officeDocument/2006/relationships/hyperlink" Target="https://okusitservices.com/wp/?page_id=15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sv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desmith.io/blog/amazon-s3-storage-diagramming-system-design" TargetMode="External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4.svg"/><Relationship Id="rId4" Type="http://schemas.openxmlformats.org/officeDocument/2006/relationships/image" Target="../media/image2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6.svg"/><Relationship Id="rId7" Type="http://schemas.openxmlformats.org/officeDocument/2006/relationships/image" Target="../media/image30.pn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18.svg"/><Relationship Id="rId4" Type="http://schemas.openxmlformats.org/officeDocument/2006/relationships/image" Target="../media/image17.svg"/><Relationship Id="rId9" Type="http://schemas.openxmlformats.org/officeDocument/2006/relationships/image" Target="../media/image3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5.svg"/><Relationship Id="rId7" Type="http://schemas.openxmlformats.org/officeDocument/2006/relationships/image" Target="../media/image33.pn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2" Type="http://schemas.openxmlformats.org/officeDocument/2006/relationships/image" Target="../media/image3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svg"/><Relationship Id="rId5" Type="http://schemas.openxmlformats.org/officeDocument/2006/relationships/image" Target="../media/image42.svg"/><Relationship Id="rId4" Type="http://schemas.openxmlformats.org/officeDocument/2006/relationships/image" Target="../media/image4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46.svg"/><Relationship Id="rId7" Type="http://schemas.openxmlformats.org/officeDocument/2006/relationships/image" Target="../media/image21.sv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svg"/><Relationship Id="rId5" Type="http://schemas.openxmlformats.org/officeDocument/2006/relationships/image" Target="../media/image48.svg"/><Relationship Id="rId4" Type="http://schemas.openxmlformats.org/officeDocument/2006/relationships/image" Target="../media/image4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22190" y="1918589"/>
            <a:ext cx="3454212" cy="2678453"/>
          </a:xfrm>
          <a:custGeom>
            <a:avLst/>
            <a:gdLst/>
            <a:ahLst/>
            <a:cxnLst/>
            <a:rect l="l" t="t" r="r" b="b"/>
            <a:pathLst>
              <a:path w="3454212" h="2678453">
                <a:moveTo>
                  <a:pt x="0" y="0"/>
                </a:moveTo>
                <a:lnTo>
                  <a:pt x="3454212" y="0"/>
                </a:lnTo>
                <a:lnTo>
                  <a:pt x="3454212" y="2678453"/>
                </a:lnTo>
                <a:lnTo>
                  <a:pt x="0" y="2678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sp>
        <p:nvSpPr>
          <p:cNvPr id="3" name="Freeform 3"/>
          <p:cNvSpPr/>
          <p:nvPr/>
        </p:nvSpPr>
        <p:spPr>
          <a:xfrm>
            <a:off x="9144000" y="2985193"/>
            <a:ext cx="6474552" cy="6045613"/>
          </a:xfrm>
          <a:custGeom>
            <a:avLst/>
            <a:gdLst/>
            <a:ahLst/>
            <a:cxnLst/>
            <a:rect l="l" t="t" r="r" b="b"/>
            <a:pathLst>
              <a:path w="6474552" h="6045613">
                <a:moveTo>
                  <a:pt x="0" y="0"/>
                </a:moveTo>
                <a:lnTo>
                  <a:pt x="6474552" y="0"/>
                </a:lnTo>
                <a:lnTo>
                  <a:pt x="6474552" y="6045612"/>
                </a:lnTo>
                <a:lnTo>
                  <a:pt x="0" y="60456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" name="Freeform 4"/>
          <p:cNvSpPr/>
          <p:nvPr/>
        </p:nvSpPr>
        <p:spPr>
          <a:xfrm>
            <a:off x="15430644" y="7477560"/>
            <a:ext cx="3106491" cy="3106491"/>
          </a:xfrm>
          <a:custGeom>
            <a:avLst/>
            <a:gdLst/>
            <a:ahLst/>
            <a:cxnLst/>
            <a:rect l="l" t="t" r="r" b="b"/>
            <a:pathLst>
              <a:path w="3106491" h="3106491">
                <a:moveTo>
                  <a:pt x="0" y="0"/>
                </a:moveTo>
                <a:lnTo>
                  <a:pt x="3106490" y="0"/>
                </a:lnTo>
                <a:lnTo>
                  <a:pt x="3106490" y="3106491"/>
                </a:lnTo>
                <a:lnTo>
                  <a:pt x="0" y="3106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5" name="Freeform 5"/>
          <p:cNvSpPr/>
          <p:nvPr/>
        </p:nvSpPr>
        <p:spPr>
          <a:xfrm>
            <a:off x="7248934" y="7247136"/>
            <a:ext cx="1497084" cy="316883"/>
          </a:xfrm>
          <a:custGeom>
            <a:avLst/>
            <a:gdLst/>
            <a:ahLst/>
            <a:cxnLst/>
            <a:rect l="l" t="t" r="r" b="b"/>
            <a:pathLst>
              <a:path w="1497084" h="316883">
                <a:moveTo>
                  <a:pt x="0" y="0"/>
                </a:moveTo>
                <a:lnTo>
                  <a:pt x="1497084" y="0"/>
                </a:lnTo>
                <a:lnTo>
                  <a:pt x="1497084" y="316883"/>
                </a:lnTo>
                <a:lnTo>
                  <a:pt x="0" y="3168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sp>
        <p:nvSpPr>
          <p:cNvPr id="6" name="Freeform 6"/>
          <p:cNvSpPr/>
          <p:nvPr/>
        </p:nvSpPr>
        <p:spPr>
          <a:xfrm>
            <a:off x="15692390" y="2882654"/>
            <a:ext cx="883600" cy="375162"/>
          </a:xfrm>
          <a:custGeom>
            <a:avLst/>
            <a:gdLst/>
            <a:ahLst/>
            <a:cxnLst/>
            <a:rect l="l" t="t" r="r" b="b"/>
            <a:pathLst>
              <a:path w="883600" h="375162">
                <a:moveTo>
                  <a:pt x="0" y="0"/>
                </a:moveTo>
                <a:lnTo>
                  <a:pt x="883600" y="0"/>
                </a:lnTo>
                <a:lnTo>
                  <a:pt x="883600" y="375161"/>
                </a:lnTo>
                <a:lnTo>
                  <a:pt x="0" y="3751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sp>
        <p:nvSpPr>
          <p:cNvPr id="7" name="Freeform 7"/>
          <p:cNvSpPr/>
          <p:nvPr/>
        </p:nvSpPr>
        <p:spPr>
          <a:xfrm>
            <a:off x="8449991" y="1647760"/>
            <a:ext cx="592054" cy="263821"/>
          </a:xfrm>
          <a:custGeom>
            <a:avLst/>
            <a:gdLst/>
            <a:ahLst/>
            <a:cxnLst/>
            <a:rect l="l" t="t" r="r" b="b"/>
            <a:pathLst>
              <a:path w="592054" h="263821">
                <a:moveTo>
                  <a:pt x="0" y="0"/>
                </a:moveTo>
                <a:lnTo>
                  <a:pt x="592054" y="0"/>
                </a:lnTo>
                <a:lnTo>
                  <a:pt x="592054" y="263821"/>
                </a:lnTo>
                <a:lnTo>
                  <a:pt x="0" y="26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80234" b="-127684"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8" name="Freeform 8"/>
          <p:cNvSpPr/>
          <p:nvPr/>
        </p:nvSpPr>
        <p:spPr>
          <a:xfrm>
            <a:off x="15961863" y="7363185"/>
            <a:ext cx="614127" cy="228751"/>
          </a:xfrm>
          <a:custGeom>
            <a:avLst/>
            <a:gdLst/>
            <a:ahLst/>
            <a:cxnLst/>
            <a:rect l="l" t="t" r="r" b="b"/>
            <a:pathLst>
              <a:path w="614127" h="228751">
                <a:moveTo>
                  <a:pt x="0" y="0"/>
                </a:moveTo>
                <a:lnTo>
                  <a:pt x="614127" y="0"/>
                </a:lnTo>
                <a:lnTo>
                  <a:pt x="614127" y="228750"/>
                </a:lnTo>
                <a:lnTo>
                  <a:pt x="0" y="228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81811" b="-35760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sp>
        <p:nvSpPr>
          <p:cNvPr id="9" name="TextBox 9"/>
          <p:cNvSpPr txBox="1"/>
          <p:nvPr/>
        </p:nvSpPr>
        <p:spPr>
          <a:xfrm>
            <a:off x="1939517" y="2368179"/>
            <a:ext cx="6057959" cy="535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29293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Eksplorasi Arsitektur Penyimpanan Digital</a:t>
            </a:r>
          </a:p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29293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AWS Storage</a:t>
            </a:r>
          </a:p>
          <a:p>
            <a:pPr algn="l">
              <a:lnSpc>
                <a:spcPts val="6800"/>
              </a:lnSpc>
            </a:pPr>
            <a:endParaRPr lang="en-US" sz="6800" spc="-374">
              <a:solidFill>
                <a:srgbClr val="292936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39517" y="1732045"/>
            <a:ext cx="4361213" cy="124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92936"/>
                </a:solidFill>
                <a:latin typeface="TT Firs Neue"/>
                <a:ea typeface="TT Firs Neue"/>
                <a:cs typeface="TT Firs Neue"/>
                <a:sym typeface="TT Firs Neue"/>
              </a:rPr>
              <a:t>Cloud Computing Report</a:t>
            </a: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292936"/>
              </a:solidFill>
              <a:latin typeface="TT Firs Neue"/>
              <a:ea typeface="TT Firs Neue"/>
              <a:cs typeface="TT Firs Neue"/>
              <a:sym typeface="TT Firs Neue"/>
            </a:endParaRPr>
          </a:p>
          <a:p>
            <a:pPr algn="l">
              <a:lnSpc>
                <a:spcPts val="3359"/>
              </a:lnSpc>
            </a:pPr>
            <a:endParaRPr lang="en-US" sz="2400">
              <a:solidFill>
                <a:srgbClr val="292936"/>
              </a:solidFill>
              <a:latin typeface="TT Firs Neue"/>
              <a:ea typeface="TT Firs Neue"/>
              <a:cs typeface="TT Firs Neue"/>
              <a:sym typeface="TT Firs Neu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994599" y="7873013"/>
            <a:ext cx="6806501" cy="175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</a:pPr>
            <a:r>
              <a:rPr lang="en-US" sz="2000">
                <a:solidFill>
                  <a:srgbClr val="292936"/>
                </a:solidFill>
                <a:latin typeface="TT Firs Neue"/>
                <a:ea typeface="TT Firs Neue"/>
                <a:cs typeface="TT Firs Neue"/>
                <a:sym typeface="TT Firs Neue"/>
              </a:rPr>
              <a:t>1. Bakti Surya Atmaja (102022580056)</a:t>
            </a:r>
          </a:p>
          <a:p>
            <a:pPr marL="0" lvl="0" indent="0" algn="l">
              <a:lnSpc>
                <a:spcPts val="2800"/>
              </a:lnSpc>
            </a:pPr>
            <a:r>
              <a:rPr lang="en-US" sz="2000">
                <a:solidFill>
                  <a:srgbClr val="292936"/>
                </a:solidFill>
                <a:latin typeface="TT Firs Neue"/>
                <a:ea typeface="TT Firs Neue"/>
                <a:cs typeface="TT Firs Neue"/>
                <a:sym typeface="TT Firs Neue"/>
              </a:rPr>
              <a:t>2. Catherine Cantika Larasati (102022580046)</a:t>
            </a:r>
          </a:p>
          <a:p>
            <a:pPr marL="0" lvl="0" indent="0" algn="l">
              <a:lnSpc>
                <a:spcPts val="2800"/>
              </a:lnSpc>
            </a:pPr>
            <a:r>
              <a:rPr lang="en-US" sz="2000">
                <a:solidFill>
                  <a:srgbClr val="292936"/>
                </a:solidFill>
                <a:latin typeface="TT Firs Neue"/>
                <a:ea typeface="TT Firs Neue"/>
                <a:cs typeface="TT Firs Neue"/>
                <a:sym typeface="TT Firs Neue"/>
              </a:rPr>
              <a:t>3. Ivan Tanjaya Sutrisna (102022580061)</a:t>
            </a:r>
          </a:p>
          <a:p>
            <a:pPr marL="0" lvl="0" indent="0" algn="l">
              <a:lnSpc>
                <a:spcPts val="2800"/>
              </a:lnSpc>
            </a:pPr>
            <a:r>
              <a:rPr lang="en-US" sz="2000">
                <a:solidFill>
                  <a:srgbClr val="292936"/>
                </a:solidFill>
                <a:latin typeface="TT Firs Neue"/>
                <a:ea typeface="TT Firs Neue"/>
                <a:cs typeface="TT Firs Neue"/>
                <a:sym typeface="TT Firs Neue"/>
              </a:rPr>
              <a:t>4. Maheswari Maharani Mahfud (102022580005)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292936"/>
                </a:solidFill>
                <a:latin typeface="TT Firs Neue"/>
                <a:ea typeface="TT Firs Neue"/>
                <a:cs typeface="TT Firs Neue"/>
                <a:sym typeface="TT Firs Neue"/>
              </a:rPr>
              <a:t>5. Raihan Muhammad Syawal (102022580011)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94599" y="7429935"/>
            <a:ext cx="2195335" cy="34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292936"/>
                </a:solidFill>
                <a:latin typeface="TT Firs Neue"/>
                <a:ea typeface="TT Firs Neue"/>
                <a:cs typeface="TT Firs Neue"/>
                <a:sym typeface="TT Firs Neue"/>
              </a:rPr>
              <a:t>Presented By: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62375" y="7429935"/>
            <a:ext cx="2195335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29293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Kelompok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7844269" y="1028700"/>
            <a:ext cx="2246284" cy="1496587"/>
          </a:xfrm>
          <a:custGeom>
            <a:avLst/>
            <a:gdLst/>
            <a:ahLst/>
            <a:cxnLst/>
            <a:rect l="l" t="t" r="r" b="b"/>
            <a:pathLst>
              <a:path w="2246284" h="1496587">
                <a:moveTo>
                  <a:pt x="0" y="0"/>
                </a:moveTo>
                <a:lnTo>
                  <a:pt x="2246284" y="0"/>
                </a:lnTo>
                <a:lnTo>
                  <a:pt x="2246284" y="1496587"/>
                </a:lnTo>
                <a:lnTo>
                  <a:pt x="0" y="14965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grpSp>
        <p:nvGrpSpPr>
          <p:cNvPr id="3" name="Group 3"/>
          <p:cNvGrpSpPr/>
          <p:nvPr/>
        </p:nvGrpSpPr>
        <p:grpSpPr>
          <a:xfrm>
            <a:off x="9223174" y="1679530"/>
            <a:ext cx="7428315" cy="4214222"/>
            <a:chOff x="0" y="0"/>
            <a:chExt cx="1106640" cy="6278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06640" cy="627818"/>
            </a:xfrm>
            <a:custGeom>
              <a:avLst/>
              <a:gdLst/>
              <a:ahLst/>
              <a:cxnLst/>
              <a:rect l="l" t="t" r="r" b="b"/>
              <a:pathLst>
                <a:path w="1106640" h="627818">
                  <a:moveTo>
                    <a:pt x="36478" y="0"/>
                  </a:moveTo>
                  <a:lnTo>
                    <a:pt x="1070163" y="0"/>
                  </a:lnTo>
                  <a:cubicBezTo>
                    <a:pt x="1090309" y="0"/>
                    <a:pt x="1106640" y="16332"/>
                    <a:pt x="1106640" y="36478"/>
                  </a:cubicBezTo>
                  <a:lnTo>
                    <a:pt x="1106640" y="591340"/>
                  </a:lnTo>
                  <a:cubicBezTo>
                    <a:pt x="1106640" y="601015"/>
                    <a:pt x="1102797" y="610293"/>
                    <a:pt x="1095956" y="617134"/>
                  </a:cubicBezTo>
                  <a:cubicBezTo>
                    <a:pt x="1089116" y="623975"/>
                    <a:pt x="1079837" y="627818"/>
                    <a:pt x="1070163" y="627818"/>
                  </a:cubicBezTo>
                  <a:lnTo>
                    <a:pt x="36478" y="627818"/>
                  </a:lnTo>
                  <a:cubicBezTo>
                    <a:pt x="16332" y="627818"/>
                    <a:pt x="0" y="611486"/>
                    <a:pt x="0" y="591340"/>
                  </a:cubicBezTo>
                  <a:lnTo>
                    <a:pt x="0" y="36478"/>
                  </a:lnTo>
                  <a:cubicBezTo>
                    <a:pt x="0" y="16332"/>
                    <a:pt x="16332" y="0"/>
                    <a:pt x="36478" y="0"/>
                  </a:cubicBezTo>
                  <a:close/>
                </a:path>
              </a:pathLst>
            </a:custGeom>
            <a:blipFill>
              <a:blip r:embed="rId3"/>
              <a:stretch>
                <a:fillRect t="-10261" b="-10261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55523" y="5089569"/>
            <a:ext cx="5550517" cy="4258588"/>
            <a:chOff x="0" y="0"/>
            <a:chExt cx="859920" cy="6597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59920" cy="659767"/>
            </a:xfrm>
            <a:custGeom>
              <a:avLst/>
              <a:gdLst/>
              <a:ahLst/>
              <a:cxnLst/>
              <a:rect l="l" t="t" r="r" b="b"/>
              <a:pathLst>
                <a:path w="859920" h="659767">
                  <a:moveTo>
                    <a:pt x="48818" y="0"/>
                  </a:moveTo>
                  <a:lnTo>
                    <a:pt x="811102" y="0"/>
                  </a:lnTo>
                  <a:cubicBezTo>
                    <a:pt x="838064" y="0"/>
                    <a:pt x="859920" y="21857"/>
                    <a:pt x="859920" y="48818"/>
                  </a:cubicBezTo>
                  <a:lnTo>
                    <a:pt x="859920" y="610948"/>
                  </a:lnTo>
                  <a:cubicBezTo>
                    <a:pt x="859920" y="623896"/>
                    <a:pt x="854777" y="636313"/>
                    <a:pt x="845622" y="645468"/>
                  </a:cubicBezTo>
                  <a:cubicBezTo>
                    <a:pt x="836467" y="654623"/>
                    <a:pt x="824049" y="659767"/>
                    <a:pt x="811102" y="659767"/>
                  </a:cubicBezTo>
                  <a:lnTo>
                    <a:pt x="48818" y="659767"/>
                  </a:lnTo>
                  <a:cubicBezTo>
                    <a:pt x="35871" y="659767"/>
                    <a:pt x="23454" y="654623"/>
                    <a:pt x="14299" y="645468"/>
                  </a:cubicBezTo>
                  <a:cubicBezTo>
                    <a:pt x="5143" y="636313"/>
                    <a:pt x="0" y="623896"/>
                    <a:pt x="0" y="610948"/>
                  </a:cubicBezTo>
                  <a:lnTo>
                    <a:pt x="0" y="48818"/>
                  </a:lnTo>
                  <a:cubicBezTo>
                    <a:pt x="0" y="35871"/>
                    <a:pt x="5143" y="23454"/>
                    <a:pt x="14299" y="14299"/>
                  </a:cubicBezTo>
                  <a:cubicBezTo>
                    <a:pt x="23454" y="5143"/>
                    <a:pt x="35871" y="0"/>
                    <a:pt x="48818" y="0"/>
                  </a:cubicBezTo>
                  <a:close/>
                </a:path>
              </a:pathLst>
            </a:custGeom>
            <a:blipFill>
              <a:blip r:embed="rId4"/>
              <a:stretch>
                <a:fillRect l="-9018" r="-9018"/>
              </a:stretch>
            </a:blipFill>
            <a:ln w="95250" cap="rnd">
              <a:solidFill>
                <a:srgbClr val="F8F8F8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306839" y="6240246"/>
            <a:ext cx="5344650" cy="2758405"/>
            <a:chOff x="0" y="0"/>
            <a:chExt cx="1326642" cy="6846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26642" cy="684687"/>
            </a:xfrm>
            <a:custGeom>
              <a:avLst/>
              <a:gdLst/>
              <a:ahLst/>
              <a:cxnLst/>
              <a:rect l="l" t="t" r="r" b="b"/>
              <a:pathLst>
                <a:path w="1326642" h="684687">
                  <a:moveTo>
                    <a:pt x="26074" y="0"/>
                  </a:moveTo>
                  <a:lnTo>
                    <a:pt x="1300568" y="0"/>
                  </a:lnTo>
                  <a:cubicBezTo>
                    <a:pt x="1307483" y="0"/>
                    <a:pt x="1314115" y="2747"/>
                    <a:pt x="1319005" y="7637"/>
                  </a:cubicBezTo>
                  <a:cubicBezTo>
                    <a:pt x="1323895" y="12527"/>
                    <a:pt x="1326642" y="19158"/>
                    <a:pt x="1326642" y="26074"/>
                  </a:cubicBezTo>
                  <a:lnTo>
                    <a:pt x="1326642" y="658614"/>
                  </a:lnTo>
                  <a:cubicBezTo>
                    <a:pt x="1326642" y="673014"/>
                    <a:pt x="1314968" y="684687"/>
                    <a:pt x="1300568" y="684687"/>
                  </a:cubicBezTo>
                  <a:lnTo>
                    <a:pt x="26074" y="684687"/>
                  </a:lnTo>
                  <a:cubicBezTo>
                    <a:pt x="19158" y="684687"/>
                    <a:pt x="12527" y="681940"/>
                    <a:pt x="7637" y="677051"/>
                  </a:cubicBezTo>
                  <a:cubicBezTo>
                    <a:pt x="2747" y="672161"/>
                    <a:pt x="0" y="665529"/>
                    <a:pt x="0" y="658614"/>
                  </a:cubicBezTo>
                  <a:lnTo>
                    <a:pt x="0" y="26074"/>
                  </a:lnTo>
                  <a:cubicBezTo>
                    <a:pt x="0" y="19158"/>
                    <a:pt x="2747" y="12527"/>
                    <a:pt x="7637" y="7637"/>
                  </a:cubicBezTo>
                  <a:cubicBezTo>
                    <a:pt x="12527" y="2747"/>
                    <a:pt x="19158" y="0"/>
                    <a:pt x="26074" y="0"/>
                  </a:cubicBezTo>
                  <a:close/>
                </a:path>
              </a:pathLst>
            </a:custGeom>
            <a:solidFill>
              <a:srgbClr val="4634D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26642" cy="7227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866644" y="5191452"/>
            <a:ext cx="739314" cy="704197"/>
          </a:xfrm>
          <a:custGeom>
            <a:avLst/>
            <a:gdLst/>
            <a:ahLst/>
            <a:cxnLst/>
            <a:rect l="l" t="t" r="r" b="b"/>
            <a:pathLst>
              <a:path w="739314" h="704197">
                <a:moveTo>
                  <a:pt x="0" y="0"/>
                </a:moveTo>
                <a:lnTo>
                  <a:pt x="739314" y="0"/>
                </a:lnTo>
                <a:lnTo>
                  <a:pt x="739314" y="704196"/>
                </a:lnTo>
                <a:lnTo>
                  <a:pt x="0" y="704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11" name="Freeform 11"/>
          <p:cNvSpPr/>
          <p:nvPr/>
        </p:nvSpPr>
        <p:spPr>
          <a:xfrm>
            <a:off x="2605958" y="4861951"/>
            <a:ext cx="3371038" cy="3457474"/>
          </a:xfrm>
          <a:custGeom>
            <a:avLst/>
            <a:gdLst/>
            <a:ahLst/>
            <a:cxnLst/>
            <a:rect l="l" t="t" r="r" b="b"/>
            <a:pathLst>
              <a:path w="3371038" h="3457474">
                <a:moveTo>
                  <a:pt x="0" y="0"/>
                </a:moveTo>
                <a:lnTo>
                  <a:pt x="3371038" y="0"/>
                </a:lnTo>
                <a:lnTo>
                  <a:pt x="3371038" y="3457474"/>
                </a:lnTo>
                <a:lnTo>
                  <a:pt x="0" y="34574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12" name="Freeform 12"/>
          <p:cNvSpPr/>
          <p:nvPr/>
        </p:nvSpPr>
        <p:spPr>
          <a:xfrm>
            <a:off x="6203904" y="4409024"/>
            <a:ext cx="455203" cy="452927"/>
          </a:xfrm>
          <a:custGeom>
            <a:avLst/>
            <a:gdLst/>
            <a:ahLst/>
            <a:cxnLst/>
            <a:rect l="l" t="t" r="r" b="b"/>
            <a:pathLst>
              <a:path w="455203" h="452927">
                <a:moveTo>
                  <a:pt x="0" y="0"/>
                </a:moveTo>
                <a:lnTo>
                  <a:pt x="455202" y="0"/>
                </a:lnTo>
                <a:lnTo>
                  <a:pt x="455202" y="452927"/>
                </a:lnTo>
                <a:lnTo>
                  <a:pt x="0" y="4529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13" name="Freeform 13"/>
          <p:cNvSpPr/>
          <p:nvPr/>
        </p:nvSpPr>
        <p:spPr>
          <a:xfrm>
            <a:off x="7404887" y="1415477"/>
            <a:ext cx="592054" cy="263821"/>
          </a:xfrm>
          <a:custGeom>
            <a:avLst/>
            <a:gdLst/>
            <a:ahLst/>
            <a:cxnLst/>
            <a:rect l="l" t="t" r="r" b="b"/>
            <a:pathLst>
              <a:path w="592054" h="263821">
                <a:moveTo>
                  <a:pt x="0" y="0"/>
                </a:moveTo>
                <a:lnTo>
                  <a:pt x="592054" y="0"/>
                </a:lnTo>
                <a:lnTo>
                  <a:pt x="592054" y="263821"/>
                </a:lnTo>
                <a:lnTo>
                  <a:pt x="0" y="26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80234" b="-127684"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14" name="TextBox 14"/>
          <p:cNvSpPr txBox="1"/>
          <p:nvPr/>
        </p:nvSpPr>
        <p:spPr>
          <a:xfrm>
            <a:off x="11805033" y="6670536"/>
            <a:ext cx="4348261" cy="1868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8F8F8"/>
                </a:solidFill>
                <a:latin typeface="TT Firs Neue"/>
                <a:ea typeface="TT Firs Neue"/>
                <a:cs typeface="TT Firs Neue"/>
                <a:sym typeface="TT Firs Neue"/>
              </a:rPr>
              <a:t>Penyimpanan konvensional sering terkendala oleh kapasitas yang terbatas dan biaya investasi awal yang tinggi. Pengelolaan infrastruktur fisik juga menambah kompleksitas operasional dan beban pemeliharaan.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56743" y="2048166"/>
            <a:ext cx="6140198" cy="299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spc="-308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Tantangan Modern Limitasi Penyimpanan</a:t>
            </a:r>
          </a:p>
          <a:p>
            <a:pPr algn="l">
              <a:lnSpc>
                <a:spcPts val="5600"/>
              </a:lnSpc>
            </a:pPr>
            <a:endParaRPr lang="en-US" sz="5600" spc="-308">
              <a:solidFill>
                <a:srgbClr val="231F2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824567" y="1233062"/>
            <a:ext cx="4225528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TT Firs Neue"/>
                <a:ea typeface="TT Firs Neue"/>
                <a:cs typeface="TT Firs Neue"/>
                <a:sym typeface="TT Firs Neue"/>
                <a:hlinkClick r:id="rId9" tooltip="https://okusitservices.com/wp/?page_id=15"/>
              </a:rPr>
              <a:t>okusitservices.com/wp/?page_id=15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08380" y="9376732"/>
            <a:ext cx="7244804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898989"/>
                </a:solidFill>
                <a:latin typeface="TT Firs Neue"/>
                <a:ea typeface="TT Firs Neue"/>
                <a:cs typeface="TT Firs Neue"/>
                <a:sym typeface="TT Firs Neue"/>
                <a:hlinkClick r:id="rId10" tooltip="https://www.ldpassociates.com/benefits-of-using-a-quality-server-rack/"/>
              </a:rPr>
              <a:t>ldpassociates.com/benefits-of-using-a-quality-server-rack/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4505" y="7007149"/>
            <a:ext cx="3685324" cy="3528697"/>
          </a:xfrm>
          <a:custGeom>
            <a:avLst/>
            <a:gdLst/>
            <a:ahLst/>
            <a:cxnLst/>
            <a:rect l="l" t="t" r="r" b="b"/>
            <a:pathLst>
              <a:path w="3685324" h="3528697">
                <a:moveTo>
                  <a:pt x="0" y="0"/>
                </a:moveTo>
                <a:lnTo>
                  <a:pt x="3685324" y="0"/>
                </a:lnTo>
                <a:lnTo>
                  <a:pt x="3685324" y="3528698"/>
                </a:lnTo>
                <a:lnTo>
                  <a:pt x="0" y="35286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grpSp>
        <p:nvGrpSpPr>
          <p:cNvPr id="3" name="Group 3"/>
          <p:cNvGrpSpPr/>
          <p:nvPr/>
        </p:nvGrpSpPr>
        <p:grpSpPr>
          <a:xfrm>
            <a:off x="2021701" y="2340589"/>
            <a:ext cx="7028449" cy="6723961"/>
            <a:chOff x="0" y="0"/>
            <a:chExt cx="1851114" cy="17709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51114" cy="1770920"/>
            </a:xfrm>
            <a:custGeom>
              <a:avLst/>
              <a:gdLst/>
              <a:ahLst/>
              <a:cxnLst/>
              <a:rect l="l" t="t" r="r" b="b"/>
              <a:pathLst>
                <a:path w="1851114" h="1770920">
                  <a:moveTo>
                    <a:pt x="26436" y="0"/>
                  </a:moveTo>
                  <a:lnTo>
                    <a:pt x="1824678" y="0"/>
                  </a:lnTo>
                  <a:cubicBezTo>
                    <a:pt x="1839278" y="0"/>
                    <a:pt x="1851114" y="11836"/>
                    <a:pt x="1851114" y="26436"/>
                  </a:cubicBezTo>
                  <a:lnTo>
                    <a:pt x="1851114" y="1744483"/>
                  </a:lnTo>
                  <a:cubicBezTo>
                    <a:pt x="1851114" y="1759084"/>
                    <a:pt x="1839278" y="1770920"/>
                    <a:pt x="1824678" y="1770920"/>
                  </a:cubicBezTo>
                  <a:lnTo>
                    <a:pt x="26436" y="1770920"/>
                  </a:lnTo>
                  <a:cubicBezTo>
                    <a:pt x="11836" y="1770920"/>
                    <a:pt x="0" y="1759084"/>
                    <a:pt x="0" y="1744483"/>
                  </a:cubicBezTo>
                  <a:lnTo>
                    <a:pt x="0" y="26436"/>
                  </a:lnTo>
                  <a:cubicBezTo>
                    <a:pt x="0" y="11836"/>
                    <a:pt x="11836" y="0"/>
                    <a:pt x="26436" y="0"/>
                  </a:cubicBezTo>
                  <a:close/>
                </a:path>
              </a:pathLst>
            </a:custGeom>
            <a:solidFill>
              <a:srgbClr val="F9F9F9"/>
            </a:solidFill>
            <a:ln w="38100" cap="rnd">
              <a:solidFill>
                <a:srgbClr val="4634DA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51114" cy="180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735684" y="7007149"/>
            <a:ext cx="5378824" cy="4114800"/>
          </a:xfrm>
          <a:custGeom>
            <a:avLst/>
            <a:gdLst/>
            <a:ahLst/>
            <a:cxnLst/>
            <a:rect l="l" t="t" r="r" b="b"/>
            <a:pathLst>
              <a:path w="5378824" h="4114800">
                <a:moveTo>
                  <a:pt x="0" y="0"/>
                </a:moveTo>
                <a:lnTo>
                  <a:pt x="5378823" y="0"/>
                </a:lnTo>
                <a:lnTo>
                  <a:pt x="53788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sp>
        <p:nvSpPr>
          <p:cNvPr id="7" name="Freeform 7"/>
          <p:cNvSpPr/>
          <p:nvPr/>
        </p:nvSpPr>
        <p:spPr>
          <a:xfrm>
            <a:off x="17425096" y="-402805"/>
            <a:ext cx="862904" cy="1730134"/>
          </a:xfrm>
          <a:custGeom>
            <a:avLst/>
            <a:gdLst/>
            <a:ahLst/>
            <a:cxnLst/>
            <a:rect l="l" t="t" r="r" b="b"/>
            <a:pathLst>
              <a:path w="862904" h="1730134">
                <a:moveTo>
                  <a:pt x="0" y="0"/>
                </a:moveTo>
                <a:lnTo>
                  <a:pt x="862904" y="0"/>
                </a:lnTo>
                <a:lnTo>
                  <a:pt x="862904" y="1730134"/>
                </a:lnTo>
                <a:lnTo>
                  <a:pt x="0" y="17301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sp>
        <p:nvSpPr>
          <p:cNvPr id="8" name="Freeform 8"/>
          <p:cNvSpPr/>
          <p:nvPr/>
        </p:nvSpPr>
        <p:spPr>
          <a:xfrm>
            <a:off x="220163" y="7281233"/>
            <a:ext cx="888685" cy="888685"/>
          </a:xfrm>
          <a:custGeom>
            <a:avLst/>
            <a:gdLst/>
            <a:ahLst/>
            <a:cxnLst/>
            <a:rect l="l" t="t" r="r" b="b"/>
            <a:pathLst>
              <a:path w="888685" h="888685">
                <a:moveTo>
                  <a:pt x="0" y="0"/>
                </a:moveTo>
                <a:lnTo>
                  <a:pt x="888684" y="0"/>
                </a:lnTo>
                <a:lnTo>
                  <a:pt x="888684" y="888684"/>
                </a:lnTo>
                <a:lnTo>
                  <a:pt x="0" y="8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9" name="Freeform 9"/>
          <p:cNvSpPr/>
          <p:nvPr/>
        </p:nvSpPr>
        <p:spPr>
          <a:xfrm>
            <a:off x="13728980" y="9460795"/>
            <a:ext cx="1006704" cy="387501"/>
          </a:xfrm>
          <a:custGeom>
            <a:avLst/>
            <a:gdLst/>
            <a:ahLst/>
            <a:cxnLst/>
            <a:rect l="l" t="t" r="r" b="b"/>
            <a:pathLst>
              <a:path w="1006704" h="387501">
                <a:moveTo>
                  <a:pt x="0" y="0"/>
                </a:moveTo>
                <a:lnTo>
                  <a:pt x="1006704" y="0"/>
                </a:lnTo>
                <a:lnTo>
                  <a:pt x="1006704" y="387501"/>
                </a:lnTo>
                <a:lnTo>
                  <a:pt x="0" y="3875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4984" t="-138525" r="-35477" b="-135906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grpSp>
        <p:nvGrpSpPr>
          <p:cNvPr id="10" name="Group 10"/>
          <p:cNvGrpSpPr/>
          <p:nvPr/>
        </p:nvGrpSpPr>
        <p:grpSpPr>
          <a:xfrm>
            <a:off x="2328782" y="5640277"/>
            <a:ext cx="6414285" cy="2261476"/>
            <a:chOff x="0" y="0"/>
            <a:chExt cx="1689359" cy="5956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89359" cy="595615"/>
            </a:xfrm>
            <a:custGeom>
              <a:avLst/>
              <a:gdLst/>
              <a:ahLst/>
              <a:cxnLst/>
              <a:rect l="l" t="t" r="r" b="b"/>
              <a:pathLst>
                <a:path w="1689359" h="595615">
                  <a:moveTo>
                    <a:pt x="19312" y="0"/>
                  </a:moveTo>
                  <a:lnTo>
                    <a:pt x="1670047" y="0"/>
                  </a:lnTo>
                  <a:cubicBezTo>
                    <a:pt x="1680713" y="0"/>
                    <a:pt x="1689359" y="8646"/>
                    <a:pt x="1689359" y="19312"/>
                  </a:cubicBezTo>
                  <a:lnTo>
                    <a:pt x="1689359" y="576303"/>
                  </a:lnTo>
                  <a:cubicBezTo>
                    <a:pt x="1689359" y="581425"/>
                    <a:pt x="1687325" y="586337"/>
                    <a:pt x="1683703" y="589959"/>
                  </a:cubicBezTo>
                  <a:cubicBezTo>
                    <a:pt x="1680081" y="593580"/>
                    <a:pt x="1675169" y="595615"/>
                    <a:pt x="1670047" y="595615"/>
                  </a:cubicBezTo>
                  <a:lnTo>
                    <a:pt x="19312" y="595615"/>
                  </a:lnTo>
                  <a:cubicBezTo>
                    <a:pt x="8646" y="595615"/>
                    <a:pt x="0" y="586969"/>
                    <a:pt x="0" y="576303"/>
                  </a:cubicBezTo>
                  <a:lnTo>
                    <a:pt x="0" y="19312"/>
                  </a:lnTo>
                  <a:cubicBezTo>
                    <a:pt x="0" y="8646"/>
                    <a:pt x="8646" y="0"/>
                    <a:pt x="19312" y="0"/>
                  </a:cubicBezTo>
                  <a:close/>
                </a:path>
              </a:pathLst>
            </a:custGeom>
            <a:solidFill>
              <a:srgbClr val="E6E3FF"/>
            </a:solidFill>
          </p:spPr>
          <p:txBody>
            <a:bodyPr/>
            <a:lstStyle/>
            <a:p>
              <a:endParaRPr lang="id-ID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689359" cy="605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2475173" y="2664166"/>
            <a:ext cx="644108" cy="652011"/>
          </a:xfrm>
          <a:custGeom>
            <a:avLst/>
            <a:gdLst/>
            <a:ahLst/>
            <a:cxnLst/>
            <a:rect l="l" t="t" r="r" b="b"/>
            <a:pathLst>
              <a:path w="644108" h="652011">
                <a:moveTo>
                  <a:pt x="0" y="0"/>
                </a:moveTo>
                <a:lnTo>
                  <a:pt x="644108" y="0"/>
                </a:lnTo>
                <a:lnTo>
                  <a:pt x="644108" y="652011"/>
                </a:lnTo>
                <a:lnTo>
                  <a:pt x="0" y="6520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grpSp>
        <p:nvGrpSpPr>
          <p:cNvPr id="14" name="Group 14"/>
          <p:cNvGrpSpPr/>
          <p:nvPr/>
        </p:nvGrpSpPr>
        <p:grpSpPr>
          <a:xfrm>
            <a:off x="9555643" y="2333644"/>
            <a:ext cx="7028449" cy="6723961"/>
            <a:chOff x="0" y="0"/>
            <a:chExt cx="1851114" cy="17709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51114" cy="1770920"/>
            </a:xfrm>
            <a:custGeom>
              <a:avLst/>
              <a:gdLst/>
              <a:ahLst/>
              <a:cxnLst/>
              <a:rect l="l" t="t" r="r" b="b"/>
              <a:pathLst>
                <a:path w="1851114" h="1770920">
                  <a:moveTo>
                    <a:pt x="26436" y="0"/>
                  </a:moveTo>
                  <a:lnTo>
                    <a:pt x="1824678" y="0"/>
                  </a:lnTo>
                  <a:cubicBezTo>
                    <a:pt x="1839278" y="0"/>
                    <a:pt x="1851114" y="11836"/>
                    <a:pt x="1851114" y="26436"/>
                  </a:cubicBezTo>
                  <a:lnTo>
                    <a:pt x="1851114" y="1744483"/>
                  </a:lnTo>
                  <a:cubicBezTo>
                    <a:pt x="1851114" y="1759084"/>
                    <a:pt x="1839278" y="1770920"/>
                    <a:pt x="1824678" y="1770920"/>
                  </a:cubicBezTo>
                  <a:lnTo>
                    <a:pt x="26436" y="1770920"/>
                  </a:lnTo>
                  <a:cubicBezTo>
                    <a:pt x="11836" y="1770920"/>
                    <a:pt x="0" y="1759084"/>
                    <a:pt x="0" y="1744483"/>
                  </a:cubicBezTo>
                  <a:lnTo>
                    <a:pt x="0" y="26436"/>
                  </a:lnTo>
                  <a:cubicBezTo>
                    <a:pt x="0" y="11836"/>
                    <a:pt x="11836" y="0"/>
                    <a:pt x="26436" y="0"/>
                  </a:cubicBezTo>
                  <a:close/>
                </a:path>
              </a:pathLst>
            </a:custGeom>
            <a:solidFill>
              <a:srgbClr val="F9F9F9"/>
            </a:solidFill>
            <a:ln w="38100" cap="rnd">
              <a:solidFill>
                <a:srgbClr val="4634DA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851114" cy="180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862725" y="5633333"/>
            <a:ext cx="6414285" cy="2261476"/>
            <a:chOff x="0" y="0"/>
            <a:chExt cx="1689359" cy="59561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89359" cy="595615"/>
            </a:xfrm>
            <a:custGeom>
              <a:avLst/>
              <a:gdLst/>
              <a:ahLst/>
              <a:cxnLst/>
              <a:rect l="l" t="t" r="r" b="b"/>
              <a:pathLst>
                <a:path w="1689359" h="595615">
                  <a:moveTo>
                    <a:pt x="19312" y="0"/>
                  </a:moveTo>
                  <a:lnTo>
                    <a:pt x="1670047" y="0"/>
                  </a:lnTo>
                  <a:cubicBezTo>
                    <a:pt x="1680713" y="0"/>
                    <a:pt x="1689359" y="8646"/>
                    <a:pt x="1689359" y="19312"/>
                  </a:cubicBezTo>
                  <a:lnTo>
                    <a:pt x="1689359" y="576303"/>
                  </a:lnTo>
                  <a:cubicBezTo>
                    <a:pt x="1689359" y="581425"/>
                    <a:pt x="1687325" y="586337"/>
                    <a:pt x="1683703" y="589959"/>
                  </a:cubicBezTo>
                  <a:cubicBezTo>
                    <a:pt x="1680081" y="593580"/>
                    <a:pt x="1675169" y="595615"/>
                    <a:pt x="1670047" y="595615"/>
                  </a:cubicBezTo>
                  <a:lnTo>
                    <a:pt x="19312" y="595615"/>
                  </a:lnTo>
                  <a:cubicBezTo>
                    <a:pt x="8646" y="595615"/>
                    <a:pt x="0" y="586969"/>
                    <a:pt x="0" y="576303"/>
                  </a:cubicBezTo>
                  <a:lnTo>
                    <a:pt x="0" y="19312"/>
                  </a:lnTo>
                  <a:cubicBezTo>
                    <a:pt x="0" y="8646"/>
                    <a:pt x="8646" y="0"/>
                    <a:pt x="19312" y="0"/>
                  </a:cubicBezTo>
                  <a:close/>
                </a:path>
              </a:pathLst>
            </a:custGeom>
            <a:solidFill>
              <a:srgbClr val="E6E3FF"/>
            </a:solidFill>
          </p:spPr>
          <p:txBody>
            <a:bodyPr/>
            <a:lstStyle/>
            <a:p>
              <a:endParaRPr lang="id-ID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689359" cy="605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0009116" y="2664166"/>
            <a:ext cx="652011" cy="652011"/>
          </a:xfrm>
          <a:custGeom>
            <a:avLst/>
            <a:gdLst/>
            <a:ahLst/>
            <a:cxnLst/>
            <a:rect l="l" t="t" r="r" b="b"/>
            <a:pathLst>
              <a:path w="652011" h="652011">
                <a:moveTo>
                  <a:pt x="0" y="0"/>
                </a:moveTo>
                <a:lnTo>
                  <a:pt x="652011" y="0"/>
                </a:lnTo>
                <a:lnTo>
                  <a:pt x="652011" y="652011"/>
                </a:lnTo>
                <a:lnTo>
                  <a:pt x="0" y="6520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21" name="TextBox 21"/>
          <p:cNvSpPr txBox="1"/>
          <p:nvPr/>
        </p:nvSpPr>
        <p:spPr>
          <a:xfrm>
            <a:off x="1028700" y="1000125"/>
            <a:ext cx="6084576" cy="1333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1"/>
              </a:lnSpc>
            </a:pPr>
            <a:r>
              <a:rPr lang="en-US" sz="4701" spc="-258">
                <a:solidFill>
                  <a:srgbClr val="29293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Kompilasi Arsitektur</a:t>
            </a:r>
          </a:p>
          <a:p>
            <a:pPr algn="l">
              <a:lnSpc>
                <a:spcPts val="4701"/>
              </a:lnSpc>
            </a:pPr>
            <a:endParaRPr lang="en-US" sz="4701" spc="-258">
              <a:solidFill>
                <a:srgbClr val="292936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425398" y="3620977"/>
            <a:ext cx="6317670" cy="155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2000">
                <a:solidFill>
                  <a:srgbClr val="292936"/>
                </a:solidFill>
                <a:latin typeface="Poppins"/>
                <a:ea typeface="Poppins"/>
                <a:cs typeface="Poppins"/>
                <a:sym typeface="Poppins"/>
              </a:rPr>
              <a:t>Penyimpanan tingkat blok (block-level) yang persisten dan independen terhadap siklus hidup instans EC2. Mendukung Tipe SSD (gp3/io2) untuk transaksional dan HDD (st1) untuk analitik data. Terikat pada satu Availability Zone (AZ)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271681" y="2768950"/>
            <a:ext cx="4165779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449" b="1">
                <a:solidFill>
                  <a:srgbClr val="4634DA"/>
                </a:solidFill>
                <a:latin typeface="Poppins Bold"/>
                <a:ea typeface="Poppins Bold"/>
                <a:cs typeface="Poppins Bold"/>
                <a:sym typeface="Poppins Bold"/>
              </a:rPr>
              <a:t>Amazon EBS (Block)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99727" y="1000125"/>
            <a:ext cx="6417394" cy="740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1"/>
              </a:lnSpc>
            </a:pPr>
            <a:r>
              <a:rPr lang="en-US" sz="4701" spc="-258">
                <a:solidFill>
                  <a:srgbClr val="4634D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Block &amp; File Storage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632194" y="5787880"/>
            <a:ext cx="2358182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7"/>
              </a:lnSpc>
              <a:spcBef>
                <a:spcPct val="0"/>
              </a:spcBef>
            </a:pPr>
            <a:r>
              <a:rPr lang="en-US" sz="1539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Skenario Implementasi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797227" y="6141325"/>
            <a:ext cx="5739084" cy="1477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52"/>
              </a:lnSpc>
            </a:pPr>
            <a:r>
              <a:rPr lang="en-US" sz="17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Digunakan oleh perusahaan e-commerce atau fintech untuk menjalankan database relasional inti (PostgreSQL/Oracle) yang menuntut performa stabil (IOPS tinggi &amp; latensi rendah) untuk menangani lonjakan transaksi saat flash sale.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903167" y="8731174"/>
            <a:ext cx="5265516" cy="638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Saat </a:t>
            </a:r>
            <a:r>
              <a:rPr lang="en-US" sz="2000" dirty="0" err="1">
                <a:latin typeface="Poppins"/>
                <a:ea typeface="Poppins"/>
                <a:cs typeface="Poppins"/>
                <a:sym typeface="Poppins"/>
              </a:rPr>
              <a:t>butuh</a:t>
            </a: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 disk </a:t>
            </a:r>
            <a:r>
              <a:rPr lang="en-US" sz="2000" dirty="0" err="1">
                <a:latin typeface="Poppins"/>
                <a:ea typeface="Poppins"/>
                <a:cs typeface="Poppins"/>
                <a:sym typeface="Poppins"/>
              </a:rPr>
              <a:t>berperforma</a:t>
            </a: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latin typeface="Poppins"/>
                <a:ea typeface="Poppins"/>
                <a:cs typeface="Poppins"/>
                <a:sym typeface="Poppins"/>
              </a:rPr>
              <a:t>tinggi</a:t>
            </a: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 &amp; </a:t>
            </a:r>
            <a:r>
              <a:rPr lang="en-US" sz="2000" dirty="0" err="1">
                <a:latin typeface="Poppins"/>
                <a:ea typeface="Poppins"/>
                <a:cs typeface="Poppins"/>
                <a:sym typeface="Poppins"/>
              </a:rPr>
              <a:t>latensi</a:t>
            </a: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latin typeface="Poppins"/>
                <a:ea typeface="Poppins"/>
                <a:cs typeface="Poppins"/>
                <a:sym typeface="Poppins"/>
              </a:rPr>
              <a:t>rendah</a:t>
            </a: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latin typeface="Poppins"/>
                <a:ea typeface="Poppins"/>
                <a:cs typeface="Poppins"/>
                <a:sym typeface="Poppins"/>
              </a:rPr>
              <a:t>satu</a:t>
            </a: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latin typeface="Poppins"/>
                <a:ea typeface="Poppins"/>
                <a:cs typeface="Poppins"/>
                <a:sym typeface="Poppins"/>
              </a:rPr>
              <a:t>instans</a:t>
            </a: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 EC2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321694" y="8244422"/>
            <a:ext cx="261190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kapan</a:t>
            </a:r>
            <a:r>
              <a:rPr lang="en-US" sz="2000" dirty="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dipilih</a:t>
            </a:r>
            <a:r>
              <a:rPr lang="en-US" sz="2000" dirty="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?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59340" y="3614033"/>
            <a:ext cx="6317670" cy="18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2000">
                <a:solidFill>
                  <a:srgbClr val="292936"/>
                </a:solidFill>
                <a:latin typeface="Poppins"/>
                <a:ea typeface="Poppins"/>
                <a:cs typeface="Poppins"/>
                <a:sym typeface="Poppins"/>
              </a:rPr>
              <a:t>Sistem berkas serverless yang dapat diakses secara bersama (shared) oleh ribuan klien via protokol jaringan NFS untuk Linux. Kapasitas tumbuh/menyusut otomatis hingga Petabyte dan tersebar lintas-AZ (High Availability)</a:t>
            </a:r>
          </a:p>
          <a:p>
            <a:pPr algn="just">
              <a:lnSpc>
                <a:spcPts val="2400"/>
              </a:lnSpc>
            </a:pPr>
            <a:endParaRPr lang="en-US" sz="2000">
              <a:solidFill>
                <a:srgbClr val="29293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805624" y="2762006"/>
            <a:ext cx="4165779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449" b="1">
                <a:solidFill>
                  <a:srgbClr val="4634DA"/>
                </a:solidFill>
                <a:latin typeface="Poppins Bold"/>
                <a:ea typeface="Poppins Bold"/>
                <a:cs typeface="Poppins Bold"/>
                <a:sym typeface="Poppins Bold"/>
              </a:rPr>
              <a:t>Amazon EFS (File)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31170" y="6134380"/>
            <a:ext cx="5739084" cy="1477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52"/>
              </a:lnSpc>
            </a:pPr>
            <a:r>
              <a:rPr lang="en-US" sz="17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Cocok untuk aplikasi web ter-kontainerisasi (misalnya CMS WordPress) yang di-deploy melintasi banyak instans EC2/EKS di berbagai AZ. EFS menjadi </a:t>
            </a:r>
            <a:r>
              <a:rPr lang="en-US" sz="1716" i="1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shared directory</a:t>
            </a:r>
            <a:r>
              <a:rPr lang="en-US" sz="17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untuk sinkronisasi otomatis unggahan gambar/media antar node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437109" y="8724230"/>
            <a:ext cx="5265516" cy="638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Saat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banyak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instans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Linux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perlu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file share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elastis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lintas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-AZ.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245477" y="8185357"/>
            <a:ext cx="2156323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kapan</a:t>
            </a:r>
            <a:r>
              <a:rPr lang="en-US" sz="2000" dirty="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dipilih</a:t>
            </a:r>
            <a:r>
              <a:rPr lang="en-US" sz="2000" dirty="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?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009116" y="5787880"/>
            <a:ext cx="2358182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7"/>
              </a:lnSpc>
              <a:spcBef>
                <a:spcPct val="0"/>
              </a:spcBef>
            </a:pPr>
            <a:r>
              <a:rPr lang="en-US" sz="1539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Skenario Implementasi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14031" y="1784957"/>
            <a:ext cx="4970873" cy="7268966"/>
            <a:chOff x="0" y="0"/>
            <a:chExt cx="1309201" cy="1914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9201" cy="1914460"/>
            </a:xfrm>
            <a:custGeom>
              <a:avLst/>
              <a:gdLst/>
              <a:ahLst/>
              <a:cxnLst/>
              <a:rect l="l" t="t" r="r" b="b"/>
              <a:pathLst>
                <a:path w="1309201" h="1914460">
                  <a:moveTo>
                    <a:pt x="37379" y="0"/>
                  </a:moveTo>
                  <a:lnTo>
                    <a:pt x="1271822" y="0"/>
                  </a:lnTo>
                  <a:cubicBezTo>
                    <a:pt x="1281736" y="0"/>
                    <a:pt x="1291243" y="3938"/>
                    <a:pt x="1298253" y="10948"/>
                  </a:cubicBezTo>
                  <a:cubicBezTo>
                    <a:pt x="1305263" y="17958"/>
                    <a:pt x="1309201" y="27465"/>
                    <a:pt x="1309201" y="37379"/>
                  </a:cubicBezTo>
                  <a:lnTo>
                    <a:pt x="1309201" y="1877081"/>
                  </a:lnTo>
                  <a:cubicBezTo>
                    <a:pt x="1309201" y="1886995"/>
                    <a:pt x="1305263" y="1896502"/>
                    <a:pt x="1298253" y="1903512"/>
                  </a:cubicBezTo>
                  <a:cubicBezTo>
                    <a:pt x="1291243" y="1910522"/>
                    <a:pt x="1281736" y="1914460"/>
                    <a:pt x="1271822" y="1914460"/>
                  </a:cubicBezTo>
                  <a:lnTo>
                    <a:pt x="37379" y="1914460"/>
                  </a:lnTo>
                  <a:cubicBezTo>
                    <a:pt x="27465" y="1914460"/>
                    <a:pt x="17958" y="1910522"/>
                    <a:pt x="10948" y="1903512"/>
                  </a:cubicBezTo>
                  <a:cubicBezTo>
                    <a:pt x="3938" y="1896502"/>
                    <a:pt x="0" y="1886995"/>
                    <a:pt x="0" y="1877081"/>
                  </a:cubicBezTo>
                  <a:lnTo>
                    <a:pt x="0" y="37379"/>
                  </a:lnTo>
                  <a:cubicBezTo>
                    <a:pt x="0" y="27465"/>
                    <a:pt x="3938" y="17958"/>
                    <a:pt x="10948" y="10948"/>
                  </a:cubicBezTo>
                  <a:cubicBezTo>
                    <a:pt x="17958" y="3938"/>
                    <a:pt x="27465" y="0"/>
                    <a:pt x="37379" y="0"/>
                  </a:cubicBezTo>
                  <a:close/>
                </a:path>
              </a:pathLst>
            </a:custGeom>
            <a:solidFill>
              <a:srgbClr val="F9F9F9"/>
            </a:solidFill>
            <a:ln w="38100" cap="rnd">
              <a:solidFill>
                <a:srgbClr val="4634DA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09201" cy="1952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221541" y="7887027"/>
            <a:ext cx="2798040" cy="2972685"/>
          </a:xfrm>
          <a:custGeom>
            <a:avLst/>
            <a:gdLst/>
            <a:ahLst/>
            <a:cxnLst/>
            <a:rect l="l" t="t" r="r" b="b"/>
            <a:pathLst>
              <a:path w="2798040" h="2972685">
                <a:moveTo>
                  <a:pt x="0" y="0"/>
                </a:moveTo>
                <a:lnTo>
                  <a:pt x="2798040" y="0"/>
                </a:lnTo>
                <a:lnTo>
                  <a:pt x="2798040" y="2972685"/>
                </a:lnTo>
                <a:lnTo>
                  <a:pt x="0" y="29726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grpSp>
        <p:nvGrpSpPr>
          <p:cNvPr id="6" name="Group 6"/>
          <p:cNvGrpSpPr/>
          <p:nvPr/>
        </p:nvGrpSpPr>
        <p:grpSpPr>
          <a:xfrm>
            <a:off x="1131810" y="1784957"/>
            <a:ext cx="4953571" cy="7268966"/>
            <a:chOff x="0" y="0"/>
            <a:chExt cx="1304644" cy="19144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4644" cy="1914460"/>
            </a:xfrm>
            <a:custGeom>
              <a:avLst/>
              <a:gdLst/>
              <a:ahLst/>
              <a:cxnLst/>
              <a:rect l="l" t="t" r="r" b="b"/>
              <a:pathLst>
                <a:path w="1304644" h="1914460">
                  <a:moveTo>
                    <a:pt x="37510" y="0"/>
                  </a:moveTo>
                  <a:lnTo>
                    <a:pt x="1267135" y="0"/>
                  </a:lnTo>
                  <a:cubicBezTo>
                    <a:pt x="1287851" y="0"/>
                    <a:pt x="1304644" y="16794"/>
                    <a:pt x="1304644" y="37510"/>
                  </a:cubicBezTo>
                  <a:lnTo>
                    <a:pt x="1304644" y="1876951"/>
                  </a:lnTo>
                  <a:cubicBezTo>
                    <a:pt x="1304644" y="1897667"/>
                    <a:pt x="1287851" y="1914460"/>
                    <a:pt x="1267135" y="1914460"/>
                  </a:cubicBezTo>
                  <a:lnTo>
                    <a:pt x="37510" y="1914460"/>
                  </a:lnTo>
                  <a:cubicBezTo>
                    <a:pt x="16794" y="1914460"/>
                    <a:pt x="0" y="1897667"/>
                    <a:pt x="0" y="1876951"/>
                  </a:cubicBezTo>
                  <a:lnTo>
                    <a:pt x="0" y="37510"/>
                  </a:lnTo>
                  <a:cubicBezTo>
                    <a:pt x="0" y="16794"/>
                    <a:pt x="16794" y="0"/>
                    <a:pt x="37510" y="0"/>
                  </a:cubicBezTo>
                  <a:close/>
                </a:path>
              </a:pathLst>
            </a:custGeom>
            <a:solidFill>
              <a:srgbClr val="F9F9F9"/>
            </a:solidFill>
            <a:ln w="38100" cap="rnd">
              <a:solidFill>
                <a:srgbClr val="4634DA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04644" cy="1952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0800000">
            <a:off x="15231009" y="664063"/>
            <a:ext cx="2246284" cy="1496587"/>
          </a:xfrm>
          <a:custGeom>
            <a:avLst/>
            <a:gdLst/>
            <a:ahLst/>
            <a:cxnLst/>
            <a:rect l="l" t="t" r="r" b="b"/>
            <a:pathLst>
              <a:path w="2246284" h="1496587">
                <a:moveTo>
                  <a:pt x="0" y="0"/>
                </a:moveTo>
                <a:lnTo>
                  <a:pt x="2246284" y="0"/>
                </a:lnTo>
                <a:lnTo>
                  <a:pt x="2246284" y="1496587"/>
                </a:lnTo>
                <a:lnTo>
                  <a:pt x="0" y="14965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grpSp>
        <p:nvGrpSpPr>
          <p:cNvPr id="10" name="Group 10"/>
          <p:cNvGrpSpPr/>
          <p:nvPr/>
        </p:nvGrpSpPr>
        <p:grpSpPr>
          <a:xfrm>
            <a:off x="12298726" y="1784957"/>
            <a:ext cx="4857464" cy="7268966"/>
            <a:chOff x="0" y="0"/>
            <a:chExt cx="1279332" cy="19144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79332" cy="1914460"/>
            </a:xfrm>
            <a:custGeom>
              <a:avLst/>
              <a:gdLst/>
              <a:ahLst/>
              <a:cxnLst/>
              <a:rect l="l" t="t" r="r" b="b"/>
              <a:pathLst>
                <a:path w="1279332" h="1914460">
                  <a:moveTo>
                    <a:pt x="38252" y="0"/>
                  </a:moveTo>
                  <a:lnTo>
                    <a:pt x="1241081" y="0"/>
                  </a:lnTo>
                  <a:cubicBezTo>
                    <a:pt x="1262206" y="0"/>
                    <a:pt x="1279332" y="17126"/>
                    <a:pt x="1279332" y="38252"/>
                  </a:cubicBezTo>
                  <a:lnTo>
                    <a:pt x="1279332" y="1876208"/>
                  </a:lnTo>
                  <a:cubicBezTo>
                    <a:pt x="1279332" y="1897334"/>
                    <a:pt x="1262206" y="1914460"/>
                    <a:pt x="1241081" y="1914460"/>
                  </a:cubicBezTo>
                  <a:lnTo>
                    <a:pt x="38252" y="1914460"/>
                  </a:lnTo>
                  <a:cubicBezTo>
                    <a:pt x="17126" y="1914460"/>
                    <a:pt x="0" y="1897334"/>
                    <a:pt x="0" y="1876208"/>
                  </a:cubicBezTo>
                  <a:lnTo>
                    <a:pt x="0" y="38252"/>
                  </a:lnTo>
                  <a:cubicBezTo>
                    <a:pt x="0" y="17126"/>
                    <a:pt x="17126" y="0"/>
                    <a:pt x="38252" y="0"/>
                  </a:cubicBezTo>
                  <a:close/>
                </a:path>
              </a:pathLst>
            </a:custGeom>
            <a:solidFill>
              <a:srgbClr val="F9F9F9"/>
            </a:solidFill>
            <a:ln w="38100" cap="rnd">
              <a:solidFill>
                <a:srgbClr val="4634DA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79332" cy="1952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502656" y="2111408"/>
            <a:ext cx="1025078" cy="1025078"/>
          </a:xfrm>
          <a:custGeom>
            <a:avLst/>
            <a:gdLst/>
            <a:ahLst/>
            <a:cxnLst/>
            <a:rect l="l" t="t" r="r" b="b"/>
            <a:pathLst>
              <a:path w="1025078" h="1025078">
                <a:moveTo>
                  <a:pt x="0" y="0"/>
                </a:moveTo>
                <a:lnTo>
                  <a:pt x="1025078" y="0"/>
                </a:lnTo>
                <a:lnTo>
                  <a:pt x="1025078" y="1025078"/>
                </a:lnTo>
                <a:lnTo>
                  <a:pt x="0" y="10250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14" name="Freeform 14"/>
          <p:cNvSpPr/>
          <p:nvPr/>
        </p:nvSpPr>
        <p:spPr>
          <a:xfrm>
            <a:off x="7000249" y="2111408"/>
            <a:ext cx="1025078" cy="1025078"/>
          </a:xfrm>
          <a:custGeom>
            <a:avLst/>
            <a:gdLst/>
            <a:ahLst/>
            <a:cxnLst/>
            <a:rect l="l" t="t" r="r" b="b"/>
            <a:pathLst>
              <a:path w="1025078" h="1025078">
                <a:moveTo>
                  <a:pt x="0" y="0"/>
                </a:moveTo>
                <a:lnTo>
                  <a:pt x="1025078" y="0"/>
                </a:lnTo>
                <a:lnTo>
                  <a:pt x="1025078" y="1025078"/>
                </a:lnTo>
                <a:lnTo>
                  <a:pt x="0" y="10250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15" name="Freeform 15"/>
          <p:cNvSpPr/>
          <p:nvPr/>
        </p:nvSpPr>
        <p:spPr>
          <a:xfrm>
            <a:off x="12584476" y="2110096"/>
            <a:ext cx="1025078" cy="1025078"/>
          </a:xfrm>
          <a:custGeom>
            <a:avLst/>
            <a:gdLst/>
            <a:ahLst/>
            <a:cxnLst/>
            <a:rect l="l" t="t" r="r" b="b"/>
            <a:pathLst>
              <a:path w="1025078" h="1025078">
                <a:moveTo>
                  <a:pt x="0" y="0"/>
                </a:moveTo>
                <a:lnTo>
                  <a:pt x="1025078" y="0"/>
                </a:lnTo>
                <a:lnTo>
                  <a:pt x="1025078" y="1025077"/>
                </a:lnTo>
                <a:lnTo>
                  <a:pt x="0" y="10250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16" name="TextBox 16"/>
          <p:cNvSpPr txBox="1"/>
          <p:nvPr/>
        </p:nvSpPr>
        <p:spPr>
          <a:xfrm>
            <a:off x="1236156" y="644031"/>
            <a:ext cx="6084576" cy="740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1"/>
              </a:lnSpc>
            </a:pPr>
            <a:r>
              <a:rPr lang="en-US" sz="4701" spc="-258">
                <a:solidFill>
                  <a:srgbClr val="29293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Aws File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69235" y="644031"/>
            <a:ext cx="6417394" cy="740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1"/>
              </a:lnSpc>
            </a:pPr>
            <a:r>
              <a:rPr lang="en-US" sz="4701" spc="-258">
                <a:solidFill>
                  <a:srgbClr val="4634D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Storage Services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35894" y="2222540"/>
            <a:ext cx="2555015" cy="77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449" b="1">
                <a:solidFill>
                  <a:srgbClr val="4634DA"/>
                </a:solidFill>
                <a:latin typeface="Poppins Bold"/>
                <a:ea typeface="Poppins Bold"/>
                <a:cs typeface="Poppins Bold"/>
                <a:sym typeface="Poppins Bold"/>
              </a:rPr>
              <a:t>Amazon Elastic File System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35613" y="3285993"/>
            <a:ext cx="4545964" cy="1857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 berkas serverless yang dapat diakses bersama oleh ribuan klien via protokol NFS untuk Linux. Kapasitas tumbuh/menyusut otomatis hingga petabyte, tersebar lintas-AZ.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30127" y="2082833"/>
            <a:ext cx="2633311" cy="1143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449" b="1">
                <a:solidFill>
                  <a:srgbClr val="4634DA"/>
                </a:solidFill>
                <a:latin typeface="Poppins Bold"/>
                <a:ea typeface="Poppins Bold"/>
                <a:cs typeface="Poppins Bold"/>
                <a:sym typeface="Poppins Bold"/>
              </a:rPr>
              <a:t>Amazon FSx for Windows File Server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25122" y="3285993"/>
            <a:ext cx="4533863" cy="1857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File share SMB native Windows dengan integrasi penuh Active Directory &amp; NTFS ACL. Mendukung DFS Namespaces, Volume Shadow Copies, deduplikasi data, dan backup otomatis.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914354" y="2408300"/>
            <a:ext cx="2633311" cy="400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449" b="1">
                <a:solidFill>
                  <a:srgbClr val="4634DA"/>
                </a:solidFill>
                <a:latin typeface="Poppins Bold"/>
                <a:ea typeface="Poppins Bold"/>
                <a:cs typeface="Poppins Bold"/>
                <a:sym typeface="Poppins Bold"/>
              </a:rPr>
              <a:t>FSx for Lustre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513579" y="3285993"/>
            <a:ext cx="4633086" cy="1552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File system paralel performa tinggi. Throughput ratusan GB/s, latensi sub-ms, langsung terhubung ke S3. Mode Scratch untuk sementara, Persistent untuk jangka panjang.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19135" y="5419440"/>
            <a:ext cx="4378921" cy="2713823"/>
            <a:chOff x="0" y="0"/>
            <a:chExt cx="1153296" cy="71475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53296" cy="714752"/>
            </a:xfrm>
            <a:custGeom>
              <a:avLst/>
              <a:gdLst/>
              <a:ahLst/>
              <a:cxnLst/>
              <a:rect l="l" t="t" r="r" b="b"/>
              <a:pathLst>
                <a:path w="1153296" h="714752">
                  <a:moveTo>
                    <a:pt x="28288" y="0"/>
                  </a:moveTo>
                  <a:lnTo>
                    <a:pt x="1125008" y="0"/>
                  </a:lnTo>
                  <a:cubicBezTo>
                    <a:pt x="1140631" y="0"/>
                    <a:pt x="1153296" y="12665"/>
                    <a:pt x="1153296" y="28288"/>
                  </a:cubicBezTo>
                  <a:lnTo>
                    <a:pt x="1153296" y="686464"/>
                  </a:lnTo>
                  <a:cubicBezTo>
                    <a:pt x="1153296" y="693966"/>
                    <a:pt x="1150316" y="701161"/>
                    <a:pt x="1145011" y="706466"/>
                  </a:cubicBezTo>
                  <a:cubicBezTo>
                    <a:pt x="1139706" y="711771"/>
                    <a:pt x="1132511" y="714752"/>
                    <a:pt x="1125008" y="714752"/>
                  </a:cubicBezTo>
                  <a:lnTo>
                    <a:pt x="28288" y="714752"/>
                  </a:lnTo>
                  <a:cubicBezTo>
                    <a:pt x="12665" y="714752"/>
                    <a:pt x="0" y="702087"/>
                    <a:pt x="0" y="686464"/>
                  </a:cubicBezTo>
                  <a:lnTo>
                    <a:pt x="0" y="28288"/>
                  </a:lnTo>
                  <a:cubicBezTo>
                    <a:pt x="0" y="12665"/>
                    <a:pt x="12665" y="0"/>
                    <a:pt x="28288" y="0"/>
                  </a:cubicBezTo>
                  <a:close/>
                </a:path>
              </a:pathLst>
            </a:custGeom>
            <a:solidFill>
              <a:srgbClr val="E6E3FF"/>
            </a:solidFill>
          </p:spPr>
          <p:txBody>
            <a:bodyPr/>
            <a:lstStyle/>
            <a:p>
              <a:endParaRPr lang="id-ID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1153296" cy="7242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541497" y="5528489"/>
            <a:ext cx="3849412" cy="246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4634DA"/>
                </a:solidFill>
                <a:latin typeface="Poppins Bold"/>
                <a:ea typeface="Poppins Bold"/>
                <a:cs typeface="Poppins Bold"/>
                <a:sym typeface="Poppins Bold"/>
              </a:rPr>
              <a:t>Skenario: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Aplikasi web terkontainerisasi seperti CMS WordPress yang di deploy di banyak instans EC2/EKS di beberapa AWS EFS jadi direktori media/upload bersama yang konsisten untuk semua node.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010007" y="5419440"/>
            <a:ext cx="4378921" cy="2713823"/>
            <a:chOff x="0" y="0"/>
            <a:chExt cx="1153296" cy="71475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53296" cy="714752"/>
            </a:xfrm>
            <a:custGeom>
              <a:avLst/>
              <a:gdLst/>
              <a:ahLst/>
              <a:cxnLst/>
              <a:rect l="l" t="t" r="r" b="b"/>
              <a:pathLst>
                <a:path w="1153296" h="714752">
                  <a:moveTo>
                    <a:pt x="28288" y="0"/>
                  </a:moveTo>
                  <a:lnTo>
                    <a:pt x="1125008" y="0"/>
                  </a:lnTo>
                  <a:cubicBezTo>
                    <a:pt x="1140631" y="0"/>
                    <a:pt x="1153296" y="12665"/>
                    <a:pt x="1153296" y="28288"/>
                  </a:cubicBezTo>
                  <a:lnTo>
                    <a:pt x="1153296" y="686464"/>
                  </a:lnTo>
                  <a:cubicBezTo>
                    <a:pt x="1153296" y="693966"/>
                    <a:pt x="1150316" y="701161"/>
                    <a:pt x="1145011" y="706466"/>
                  </a:cubicBezTo>
                  <a:cubicBezTo>
                    <a:pt x="1139706" y="711771"/>
                    <a:pt x="1132511" y="714752"/>
                    <a:pt x="1125008" y="714752"/>
                  </a:cubicBezTo>
                  <a:lnTo>
                    <a:pt x="28288" y="714752"/>
                  </a:lnTo>
                  <a:cubicBezTo>
                    <a:pt x="12665" y="714752"/>
                    <a:pt x="0" y="702087"/>
                    <a:pt x="0" y="686464"/>
                  </a:cubicBezTo>
                  <a:lnTo>
                    <a:pt x="0" y="28288"/>
                  </a:lnTo>
                  <a:cubicBezTo>
                    <a:pt x="0" y="12665"/>
                    <a:pt x="12665" y="0"/>
                    <a:pt x="28288" y="0"/>
                  </a:cubicBezTo>
                  <a:close/>
                </a:path>
              </a:pathLst>
            </a:custGeom>
            <a:solidFill>
              <a:srgbClr val="E6E3FF"/>
            </a:solidFill>
          </p:spPr>
          <p:txBody>
            <a:bodyPr/>
            <a:lstStyle/>
            <a:p>
              <a:endParaRPr lang="id-ID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153296" cy="7242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7139434" y="5528489"/>
            <a:ext cx="4249494" cy="246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4634DA"/>
                </a:solidFill>
                <a:latin typeface="Poppins Bold"/>
                <a:ea typeface="Poppins Bold"/>
                <a:cs typeface="Poppins Bold"/>
                <a:sym typeface="Poppins Bold"/>
              </a:rPr>
              <a:t>Skenario: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Perusahaan yang migrasi file server on premises  home directory dan berkas departemen ke cloud, dengan tetap menggunakan autentikasi Active Directory dan protokol SMB tanpa mengubah aplikasi yang sudah ada.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2513579" y="5419440"/>
            <a:ext cx="4378921" cy="2713823"/>
            <a:chOff x="0" y="0"/>
            <a:chExt cx="1153296" cy="71475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53296" cy="714752"/>
            </a:xfrm>
            <a:custGeom>
              <a:avLst/>
              <a:gdLst/>
              <a:ahLst/>
              <a:cxnLst/>
              <a:rect l="l" t="t" r="r" b="b"/>
              <a:pathLst>
                <a:path w="1153296" h="714752">
                  <a:moveTo>
                    <a:pt x="28288" y="0"/>
                  </a:moveTo>
                  <a:lnTo>
                    <a:pt x="1125008" y="0"/>
                  </a:lnTo>
                  <a:cubicBezTo>
                    <a:pt x="1140631" y="0"/>
                    <a:pt x="1153296" y="12665"/>
                    <a:pt x="1153296" y="28288"/>
                  </a:cubicBezTo>
                  <a:lnTo>
                    <a:pt x="1153296" y="686464"/>
                  </a:lnTo>
                  <a:cubicBezTo>
                    <a:pt x="1153296" y="693966"/>
                    <a:pt x="1150316" y="701161"/>
                    <a:pt x="1145011" y="706466"/>
                  </a:cubicBezTo>
                  <a:cubicBezTo>
                    <a:pt x="1139706" y="711771"/>
                    <a:pt x="1132511" y="714752"/>
                    <a:pt x="1125008" y="714752"/>
                  </a:cubicBezTo>
                  <a:lnTo>
                    <a:pt x="28288" y="714752"/>
                  </a:lnTo>
                  <a:cubicBezTo>
                    <a:pt x="12665" y="714752"/>
                    <a:pt x="0" y="702087"/>
                    <a:pt x="0" y="686464"/>
                  </a:cubicBezTo>
                  <a:lnTo>
                    <a:pt x="0" y="28288"/>
                  </a:lnTo>
                  <a:cubicBezTo>
                    <a:pt x="0" y="12665"/>
                    <a:pt x="12665" y="0"/>
                    <a:pt x="28288" y="0"/>
                  </a:cubicBezTo>
                  <a:close/>
                </a:path>
              </a:pathLst>
            </a:custGeom>
            <a:solidFill>
              <a:srgbClr val="E6E3FF"/>
            </a:solidFill>
          </p:spPr>
          <p:txBody>
            <a:bodyPr/>
            <a:lstStyle/>
            <a:p>
              <a:endParaRPr lang="id-ID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153296" cy="7242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2608829" y="5528489"/>
            <a:ext cx="4249494" cy="246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4634DA"/>
                </a:solidFill>
                <a:latin typeface="Poppins Bold"/>
                <a:ea typeface="Poppins Bold"/>
                <a:cs typeface="Poppins Bold"/>
                <a:sym typeface="Poppins Bold"/>
              </a:rPr>
              <a:t>Skenario: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Tim riset atau AI yang melatih model deep learning dan menjalankan simulasi  genomics, seismic, CFD yang membaca dataset multi-terabyte langsung dari S3 dengan throughput sangat tinggi.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527735" y="8373038"/>
            <a:ext cx="1900458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kapan</a:t>
            </a:r>
            <a:r>
              <a:rPr lang="en-US" sz="2000" dirty="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dipilih</a:t>
            </a:r>
            <a:r>
              <a:rPr lang="en-US" sz="2000" dirty="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?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35613" y="8730210"/>
            <a:ext cx="4428841" cy="12311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Saat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banyak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instans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Linux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perlu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file share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elastis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lintas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-AZ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tanpa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manajemen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kapasitas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endParaRPr lang="en-US" sz="20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8130483" y="8399964"/>
            <a:ext cx="2267396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kapan</a:t>
            </a:r>
            <a:r>
              <a:rPr lang="en-US" sz="2000" dirty="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dipilih</a:t>
            </a:r>
            <a:r>
              <a:rPr lang="en-US" sz="2000" dirty="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?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191944" y="8866689"/>
            <a:ext cx="3904111" cy="9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Saat aplikasi menuntut kompatibilitas SMB/Windows dan integrasi Active Directory.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010526" y="8373038"/>
            <a:ext cx="174973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kapan</a:t>
            </a:r>
            <a:r>
              <a:rPr lang="en-US" sz="2000" dirty="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dipilih</a:t>
            </a:r>
            <a:r>
              <a:rPr lang="en-US" sz="2000" dirty="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?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878066" y="8866689"/>
            <a:ext cx="3904111" cy="1247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Saat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beban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kerja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HPC/ML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butuh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throughput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ekstrem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dan dataset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besar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sudah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ada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di S3.</a:t>
            </a:r>
          </a:p>
        </p:txBody>
      </p:sp>
      <p:sp>
        <p:nvSpPr>
          <p:cNvPr id="42" name="Freeform 42"/>
          <p:cNvSpPr/>
          <p:nvPr/>
        </p:nvSpPr>
        <p:spPr>
          <a:xfrm>
            <a:off x="743559" y="1784957"/>
            <a:ext cx="592054" cy="263821"/>
          </a:xfrm>
          <a:custGeom>
            <a:avLst/>
            <a:gdLst/>
            <a:ahLst/>
            <a:cxnLst/>
            <a:rect l="l" t="t" r="r" b="b"/>
            <a:pathLst>
              <a:path w="592054" h="263821">
                <a:moveTo>
                  <a:pt x="0" y="0"/>
                </a:moveTo>
                <a:lnTo>
                  <a:pt x="592054" y="0"/>
                </a:lnTo>
                <a:lnTo>
                  <a:pt x="592054" y="263822"/>
                </a:lnTo>
                <a:lnTo>
                  <a:pt x="0" y="2638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80234" b="-127684"/>
            </a:stretch>
          </a:blipFill>
        </p:spPr>
        <p:txBody>
          <a:bodyPr/>
          <a:lstStyle/>
          <a:p>
            <a:endParaRPr lang="id-ID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7453674" y="700092"/>
            <a:ext cx="1690326" cy="1690326"/>
          </a:xfrm>
          <a:custGeom>
            <a:avLst/>
            <a:gdLst/>
            <a:ahLst/>
            <a:cxnLst/>
            <a:rect l="l" t="t" r="r" b="b"/>
            <a:pathLst>
              <a:path w="1690326" h="1690326">
                <a:moveTo>
                  <a:pt x="0" y="0"/>
                </a:moveTo>
                <a:lnTo>
                  <a:pt x="1690326" y="0"/>
                </a:lnTo>
                <a:lnTo>
                  <a:pt x="1690326" y="1690326"/>
                </a:lnTo>
                <a:lnTo>
                  <a:pt x="0" y="16903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grpSp>
        <p:nvGrpSpPr>
          <p:cNvPr id="3" name="Group 3"/>
          <p:cNvGrpSpPr/>
          <p:nvPr/>
        </p:nvGrpSpPr>
        <p:grpSpPr>
          <a:xfrm>
            <a:off x="1851968" y="2007233"/>
            <a:ext cx="7143318" cy="4378330"/>
            <a:chOff x="0" y="0"/>
            <a:chExt cx="1737275" cy="10648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37277" cy="1064822"/>
            </a:xfrm>
            <a:custGeom>
              <a:avLst/>
              <a:gdLst/>
              <a:ahLst/>
              <a:cxnLst/>
              <a:rect l="l" t="t" r="r" b="b"/>
              <a:pathLst>
                <a:path w="1737277" h="1064822">
                  <a:moveTo>
                    <a:pt x="1390318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785429"/>
                  </a:lnTo>
                  <a:cubicBezTo>
                    <a:pt x="0" y="821940"/>
                    <a:pt x="13458" y="857170"/>
                    <a:pt x="37800" y="884381"/>
                  </a:cubicBezTo>
                  <a:lnTo>
                    <a:pt x="154967" y="1015358"/>
                  </a:lnTo>
                  <a:cubicBezTo>
                    <a:pt x="183122" y="1046833"/>
                    <a:pt x="223353" y="1064823"/>
                    <a:pt x="265584" y="1064822"/>
                  </a:cubicBezTo>
                  <a:lnTo>
                    <a:pt x="1588861" y="1064822"/>
                  </a:lnTo>
                  <a:cubicBezTo>
                    <a:pt x="1628223" y="1064822"/>
                    <a:pt x="1665974" y="1049186"/>
                    <a:pt x="1693807" y="1021353"/>
                  </a:cubicBezTo>
                  <a:cubicBezTo>
                    <a:pt x="1721640" y="993519"/>
                    <a:pt x="1737277" y="955769"/>
                    <a:pt x="1737277" y="916407"/>
                  </a:cubicBezTo>
                  <a:lnTo>
                    <a:pt x="1737277" y="366141"/>
                  </a:lnTo>
                  <a:cubicBezTo>
                    <a:pt x="1737278" y="329143"/>
                    <a:pt x="1723458" y="293478"/>
                    <a:pt x="1698528" y="266140"/>
                  </a:cubicBezTo>
                  <a:lnTo>
                    <a:pt x="1499985" y="48414"/>
                  </a:lnTo>
                  <a:cubicBezTo>
                    <a:pt x="1471863" y="17574"/>
                    <a:pt x="1432055" y="0"/>
                    <a:pt x="1390318" y="0"/>
                  </a:cubicBezTo>
                  <a:close/>
                </a:path>
              </a:pathLst>
            </a:custGeom>
            <a:blipFill>
              <a:blip r:embed="rId3"/>
              <a:stretch>
                <a:fillRect t="-4349" b="-4349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688061" y="3247920"/>
            <a:ext cx="6371482" cy="1476215"/>
            <a:chOff x="0" y="0"/>
            <a:chExt cx="1581521" cy="3664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81521" cy="366424"/>
            </a:xfrm>
            <a:custGeom>
              <a:avLst/>
              <a:gdLst/>
              <a:ahLst/>
              <a:cxnLst/>
              <a:rect l="l" t="t" r="r" b="b"/>
              <a:pathLst>
                <a:path w="1581521" h="366424">
                  <a:moveTo>
                    <a:pt x="29162" y="0"/>
                  </a:moveTo>
                  <a:lnTo>
                    <a:pt x="1552358" y="0"/>
                  </a:lnTo>
                  <a:cubicBezTo>
                    <a:pt x="1568464" y="0"/>
                    <a:pt x="1581521" y="13056"/>
                    <a:pt x="1581521" y="29162"/>
                  </a:cubicBezTo>
                  <a:lnTo>
                    <a:pt x="1581521" y="337262"/>
                  </a:lnTo>
                  <a:cubicBezTo>
                    <a:pt x="1581521" y="344996"/>
                    <a:pt x="1578448" y="352414"/>
                    <a:pt x="1572979" y="357883"/>
                  </a:cubicBezTo>
                  <a:cubicBezTo>
                    <a:pt x="1567510" y="363352"/>
                    <a:pt x="1560093" y="366424"/>
                    <a:pt x="1552358" y="366424"/>
                  </a:cubicBezTo>
                  <a:lnTo>
                    <a:pt x="29162" y="366424"/>
                  </a:lnTo>
                  <a:cubicBezTo>
                    <a:pt x="21428" y="366424"/>
                    <a:pt x="14010" y="363352"/>
                    <a:pt x="8541" y="357883"/>
                  </a:cubicBezTo>
                  <a:cubicBezTo>
                    <a:pt x="3072" y="352414"/>
                    <a:pt x="0" y="344996"/>
                    <a:pt x="0" y="337262"/>
                  </a:cubicBezTo>
                  <a:lnTo>
                    <a:pt x="0" y="29162"/>
                  </a:lnTo>
                  <a:cubicBezTo>
                    <a:pt x="0" y="13056"/>
                    <a:pt x="13056" y="0"/>
                    <a:pt x="29162" y="0"/>
                  </a:cubicBezTo>
                  <a:close/>
                </a:path>
              </a:pathLst>
            </a:custGeom>
            <a:solidFill>
              <a:srgbClr val="E2E2E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81521" cy="404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688061" y="6360089"/>
            <a:ext cx="6371482" cy="556003"/>
            <a:chOff x="0" y="0"/>
            <a:chExt cx="1581521" cy="1380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81521" cy="138010"/>
            </a:xfrm>
            <a:custGeom>
              <a:avLst/>
              <a:gdLst/>
              <a:ahLst/>
              <a:cxnLst/>
              <a:rect l="l" t="t" r="r" b="b"/>
              <a:pathLst>
                <a:path w="1581521" h="138010">
                  <a:moveTo>
                    <a:pt x="29162" y="0"/>
                  </a:moveTo>
                  <a:lnTo>
                    <a:pt x="1552358" y="0"/>
                  </a:lnTo>
                  <a:cubicBezTo>
                    <a:pt x="1568464" y="0"/>
                    <a:pt x="1581521" y="13056"/>
                    <a:pt x="1581521" y="29162"/>
                  </a:cubicBezTo>
                  <a:lnTo>
                    <a:pt x="1581521" y="108848"/>
                  </a:lnTo>
                  <a:cubicBezTo>
                    <a:pt x="1581521" y="116582"/>
                    <a:pt x="1578448" y="124000"/>
                    <a:pt x="1572979" y="129469"/>
                  </a:cubicBezTo>
                  <a:cubicBezTo>
                    <a:pt x="1567510" y="134938"/>
                    <a:pt x="1560093" y="138010"/>
                    <a:pt x="1552358" y="138010"/>
                  </a:cubicBezTo>
                  <a:lnTo>
                    <a:pt x="29162" y="138010"/>
                  </a:lnTo>
                  <a:cubicBezTo>
                    <a:pt x="21428" y="138010"/>
                    <a:pt x="14010" y="134938"/>
                    <a:pt x="8541" y="129469"/>
                  </a:cubicBezTo>
                  <a:cubicBezTo>
                    <a:pt x="3072" y="124000"/>
                    <a:pt x="0" y="116582"/>
                    <a:pt x="0" y="108848"/>
                  </a:cubicBezTo>
                  <a:lnTo>
                    <a:pt x="0" y="29162"/>
                  </a:lnTo>
                  <a:cubicBezTo>
                    <a:pt x="0" y="13056"/>
                    <a:pt x="13056" y="0"/>
                    <a:pt x="29162" y="0"/>
                  </a:cubicBezTo>
                  <a:close/>
                </a:path>
              </a:pathLst>
            </a:custGeom>
            <a:solidFill>
              <a:srgbClr val="E2E2E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581521" cy="176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659"/>
                </a:lnSpc>
                <a:spcBef>
                  <a:spcPct val="0"/>
                </a:spcBef>
              </a:pPr>
              <a:r>
                <a:rPr lang="en-US" sz="18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S3 Intelligent-Tiering:</a:t>
              </a: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Optimalisasi Biaya Otomatis.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703739" y="7057959"/>
            <a:ext cx="6371482" cy="556003"/>
            <a:chOff x="0" y="0"/>
            <a:chExt cx="1581521" cy="1380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81521" cy="138010"/>
            </a:xfrm>
            <a:custGeom>
              <a:avLst/>
              <a:gdLst/>
              <a:ahLst/>
              <a:cxnLst/>
              <a:rect l="l" t="t" r="r" b="b"/>
              <a:pathLst>
                <a:path w="1581521" h="138010">
                  <a:moveTo>
                    <a:pt x="29162" y="0"/>
                  </a:moveTo>
                  <a:lnTo>
                    <a:pt x="1552358" y="0"/>
                  </a:lnTo>
                  <a:cubicBezTo>
                    <a:pt x="1568464" y="0"/>
                    <a:pt x="1581521" y="13056"/>
                    <a:pt x="1581521" y="29162"/>
                  </a:cubicBezTo>
                  <a:lnTo>
                    <a:pt x="1581521" y="108848"/>
                  </a:lnTo>
                  <a:cubicBezTo>
                    <a:pt x="1581521" y="116582"/>
                    <a:pt x="1578448" y="124000"/>
                    <a:pt x="1572979" y="129469"/>
                  </a:cubicBezTo>
                  <a:cubicBezTo>
                    <a:pt x="1567510" y="134938"/>
                    <a:pt x="1560093" y="138010"/>
                    <a:pt x="1552358" y="138010"/>
                  </a:cubicBezTo>
                  <a:lnTo>
                    <a:pt x="29162" y="138010"/>
                  </a:lnTo>
                  <a:cubicBezTo>
                    <a:pt x="21428" y="138010"/>
                    <a:pt x="14010" y="134938"/>
                    <a:pt x="8541" y="129469"/>
                  </a:cubicBezTo>
                  <a:cubicBezTo>
                    <a:pt x="3072" y="124000"/>
                    <a:pt x="0" y="116582"/>
                    <a:pt x="0" y="108848"/>
                  </a:cubicBezTo>
                  <a:lnTo>
                    <a:pt x="0" y="29162"/>
                  </a:lnTo>
                  <a:cubicBezTo>
                    <a:pt x="0" y="13056"/>
                    <a:pt x="13056" y="0"/>
                    <a:pt x="29162" y="0"/>
                  </a:cubicBezTo>
                  <a:close/>
                </a:path>
              </a:pathLst>
            </a:custGeom>
            <a:solidFill>
              <a:srgbClr val="E2E2E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581521" cy="176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659"/>
                </a:lnSpc>
                <a:spcBef>
                  <a:spcPct val="0"/>
                </a:spcBef>
              </a:pPr>
              <a:r>
                <a:rPr lang="en-US" sz="18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S3 Glacier: </a:t>
              </a: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Pengarsipan Biaya Terendah.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-841381" y="7443602"/>
            <a:ext cx="2781550" cy="2943439"/>
          </a:xfrm>
          <a:custGeom>
            <a:avLst/>
            <a:gdLst/>
            <a:ahLst/>
            <a:cxnLst/>
            <a:rect l="l" t="t" r="r" b="b"/>
            <a:pathLst>
              <a:path w="2781550" h="2943439">
                <a:moveTo>
                  <a:pt x="0" y="0"/>
                </a:moveTo>
                <a:lnTo>
                  <a:pt x="2781550" y="0"/>
                </a:lnTo>
                <a:lnTo>
                  <a:pt x="2781550" y="2943439"/>
                </a:lnTo>
                <a:lnTo>
                  <a:pt x="0" y="29434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sp>
        <p:nvSpPr>
          <p:cNvPr id="15" name="Freeform 15"/>
          <p:cNvSpPr/>
          <p:nvPr/>
        </p:nvSpPr>
        <p:spPr>
          <a:xfrm>
            <a:off x="8136414" y="8510910"/>
            <a:ext cx="1313804" cy="278088"/>
          </a:xfrm>
          <a:custGeom>
            <a:avLst/>
            <a:gdLst/>
            <a:ahLst/>
            <a:cxnLst/>
            <a:rect l="l" t="t" r="r" b="b"/>
            <a:pathLst>
              <a:path w="1313804" h="278088">
                <a:moveTo>
                  <a:pt x="0" y="0"/>
                </a:moveTo>
                <a:lnTo>
                  <a:pt x="1313803" y="0"/>
                </a:lnTo>
                <a:lnTo>
                  <a:pt x="1313803" y="278089"/>
                </a:lnTo>
                <a:lnTo>
                  <a:pt x="0" y="2780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16" name="Freeform 16"/>
          <p:cNvSpPr/>
          <p:nvPr/>
        </p:nvSpPr>
        <p:spPr>
          <a:xfrm>
            <a:off x="1940169" y="1028700"/>
            <a:ext cx="592054" cy="263821"/>
          </a:xfrm>
          <a:custGeom>
            <a:avLst/>
            <a:gdLst/>
            <a:ahLst/>
            <a:cxnLst/>
            <a:rect l="l" t="t" r="r" b="b"/>
            <a:pathLst>
              <a:path w="592054" h="263821">
                <a:moveTo>
                  <a:pt x="0" y="0"/>
                </a:moveTo>
                <a:lnTo>
                  <a:pt x="592054" y="0"/>
                </a:lnTo>
                <a:lnTo>
                  <a:pt x="592054" y="263821"/>
                </a:lnTo>
                <a:lnTo>
                  <a:pt x="0" y="26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80234" b="-127684"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17" name="Freeform 17"/>
          <p:cNvSpPr/>
          <p:nvPr/>
        </p:nvSpPr>
        <p:spPr>
          <a:xfrm>
            <a:off x="1895628" y="7057959"/>
            <a:ext cx="1264020" cy="1264020"/>
          </a:xfrm>
          <a:custGeom>
            <a:avLst/>
            <a:gdLst/>
            <a:ahLst/>
            <a:cxnLst/>
            <a:rect l="l" t="t" r="r" b="b"/>
            <a:pathLst>
              <a:path w="1264020" h="1264020">
                <a:moveTo>
                  <a:pt x="0" y="0"/>
                </a:moveTo>
                <a:lnTo>
                  <a:pt x="1264020" y="0"/>
                </a:lnTo>
                <a:lnTo>
                  <a:pt x="1264020" y="1264020"/>
                </a:lnTo>
                <a:lnTo>
                  <a:pt x="0" y="12640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18" name="TextBox 18"/>
          <p:cNvSpPr txBox="1"/>
          <p:nvPr/>
        </p:nvSpPr>
        <p:spPr>
          <a:xfrm>
            <a:off x="3525884" y="7114342"/>
            <a:ext cx="5858948" cy="81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</a:pPr>
            <a:r>
              <a:rPr lang="en-US" sz="5199" spc="-285">
                <a:solidFill>
                  <a:srgbClr val="29293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AMAZON S3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88061" y="2625413"/>
            <a:ext cx="527816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29293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Object Storage Skala Internet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02813" y="3424469"/>
            <a:ext cx="5541977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292936"/>
                </a:solidFill>
                <a:latin typeface="TT Firs Neue"/>
                <a:ea typeface="TT Firs Neue"/>
                <a:cs typeface="TT Firs Neue"/>
                <a:sym typeface="TT Firs Neue"/>
              </a:rPr>
              <a:t>Penyimpanan objek dengan durabilitas 99.999999999% (11 sembilan). Fondasi untuk data lake dan aset web statis.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703739" y="4797989"/>
            <a:ext cx="6387161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292936"/>
                </a:solidFill>
                <a:latin typeface="TT Firs Neue"/>
                <a:ea typeface="TT Firs Neue"/>
                <a:cs typeface="TT Firs Neue"/>
                <a:sym typeface="TT Firs Neue"/>
              </a:rPr>
              <a:t>Artinya, kehilangan satu objek hanya diperkirakan terjadi sekali dalam 10.000 tahun, tingkat keandalannya sangat tinggi sehingga risiko kehilangan data hampir nol.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539918" y="7922696"/>
            <a:ext cx="2812625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292936"/>
                </a:solidFill>
                <a:latin typeface="TT Firs Neue"/>
                <a:ea typeface="TT Firs Neue"/>
                <a:cs typeface="TT Firs Neue"/>
                <a:sym typeface="TT Firs Neue"/>
              </a:rPr>
              <a:t>11 Sembilan Durabilitas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06082" y="6478143"/>
            <a:ext cx="8268295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898989"/>
                </a:solidFill>
                <a:latin typeface="TT Firs Neue"/>
                <a:ea typeface="TT Firs Neue"/>
                <a:cs typeface="TT Firs Neue"/>
                <a:sym typeface="TT Firs Neue"/>
                <a:hlinkClick r:id="rId8" tooltip="https://www.codesmith.io/blog/amazon-s3-storage-diagramming-system-design"/>
              </a:rPr>
              <a:t>codesmith.io/blog/amazon-s3-storage-diagramming-system-design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21541" y="7887027"/>
            <a:ext cx="2798040" cy="2972685"/>
          </a:xfrm>
          <a:custGeom>
            <a:avLst/>
            <a:gdLst/>
            <a:ahLst/>
            <a:cxnLst/>
            <a:rect l="l" t="t" r="r" b="b"/>
            <a:pathLst>
              <a:path w="2798040" h="2972685">
                <a:moveTo>
                  <a:pt x="0" y="0"/>
                </a:moveTo>
                <a:lnTo>
                  <a:pt x="2798040" y="0"/>
                </a:lnTo>
                <a:lnTo>
                  <a:pt x="2798040" y="2972685"/>
                </a:lnTo>
                <a:lnTo>
                  <a:pt x="0" y="29726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grpSp>
        <p:nvGrpSpPr>
          <p:cNvPr id="3" name="Group 3"/>
          <p:cNvGrpSpPr/>
          <p:nvPr/>
        </p:nvGrpSpPr>
        <p:grpSpPr>
          <a:xfrm>
            <a:off x="1290322" y="2576265"/>
            <a:ext cx="4651245" cy="6723961"/>
            <a:chOff x="0" y="0"/>
            <a:chExt cx="1225019" cy="17709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25019" cy="1770920"/>
            </a:xfrm>
            <a:custGeom>
              <a:avLst/>
              <a:gdLst/>
              <a:ahLst/>
              <a:cxnLst/>
              <a:rect l="l" t="t" r="r" b="b"/>
              <a:pathLst>
                <a:path w="1225019" h="1770920">
                  <a:moveTo>
                    <a:pt x="39948" y="0"/>
                  </a:moveTo>
                  <a:lnTo>
                    <a:pt x="1185072" y="0"/>
                  </a:lnTo>
                  <a:cubicBezTo>
                    <a:pt x="1207134" y="0"/>
                    <a:pt x="1225019" y="17885"/>
                    <a:pt x="1225019" y="39948"/>
                  </a:cubicBezTo>
                  <a:lnTo>
                    <a:pt x="1225019" y="1730972"/>
                  </a:lnTo>
                  <a:cubicBezTo>
                    <a:pt x="1225019" y="1753034"/>
                    <a:pt x="1207134" y="1770920"/>
                    <a:pt x="1185072" y="1770920"/>
                  </a:cubicBezTo>
                  <a:lnTo>
                    <a:pt x="39948" y="1770920"/>
                  </a:lnTo>
                  <a:cubicBezTo>
                    <a:pt x="17885" y="1770920"/>
                    <a:pt x="0" y="1753034"/>
                    <a:pt x="0" y="1730972"/>
                  </a:cubicBezTo>
                  <a:lnTo>
                    <a:pt x="0" y="39948"/>
                  </a:lnTo>
                  <a:cubicBezTo>
                    <a:pt x="0" y="17885"/>
                    <a:pt x="17885" y="0"/>
                    <a:pt x="39948" y="0"/>
                  </a:cubicBezTo>
                  <a:close/>
                </a:path>
              </a:pathLst>
            </a:custGeom>
            <a:solidFill>
              <a:srgbClr val="F9F9F9"/>
            </a:solidFill>
            <a:ln w="38100" cap="rnd">
              <a:solidFill>
                <a:srgbClr val="4634DA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25019" cy="180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330032" y="8393233"/>
            <a:ext cx="862904" cy="1730134"/>
          </a:xfrm>
          <a:custGeom>
            <a:avLst/>
            <a:gdLst/>
            <a:ahLst/>
            <a:cxnLst/>
            <a:rect l="l" t="t" r="r" b="b"/>
            <a:pathLst>
              <a:path w="862904" h="1730134">
                <a:moveTo>
                  <a:pt x="0" y="0"/>
                </a:moveTo>
                <a:lnTo>
                  <a:pt x="862905" y="0"/>
                </a:lnTo>
                <a:lnTo>
                  <a:pt x="862905" y="1730134"/>
                </a:lnTo>
                <a:lnTo>
                  <a:pt x="0" y="17301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sp>
        <p:nvSpPr>
          <p:cNvPr id="7" name="Freeform 7"/>
          <p:cNvSpPr/>
          <p:nvPr/>
        </p:nvSpPr>
        <p:spPr>
          <a:xfrm>
            <a:off x="-444342" y="2454220"/>
            <a:ext cx="888685" cy="888685"/>
          </a:xfrm>
          <a:custGeom>
            <a:avLst/>
            <a:gdLst/>
            <a:ahLst/>
            <a:cxnLst/>
            <a:rect l="l" t="t" r="r" b="b"/>
            <a:pathLst>
              <a:path w="888685" h="888685">
                <a:moveTo>
                  <a:pt x="0" y="0"/>
                </a:moveTo>
                <a:lnTo>
                  <a:pt x="888684" y="0"/>
                </a:lnTo>
                <a:lnTo>
                  <a:pt x="888684" y="888684"/>
                </a:lnTo>
                <a:lnTo>
                  <a:pt x="0" y="8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8" name="Freeform 8"/>
          <p:cNvSpPr/>
          <p:nvPr/>
        </p:nvSpPr>
        <p:spPr>
          <a:xfrm>
            <a:off x="13728980" y="9220636"/>
            <a:ext cx="1006704" cy="387501"/>
          </a:xfrm>
          <a:custGeom>
            <a:avLst/>
            <a:gdLst/>
            <a:ahLst/>
            <a:cxnLst/>
            <a:rect l="l" t="t" r="r" b="b"/>
            <a:pathLst>
              <a:path w="1006704" h="387501">
                <a:moveTo>
                  <a:pt x="0" y="0"/>
                </a:moveTo>
                <a:lnTo>
                  <a:pt x="1006704" y="0"/>
                </a:lnTo>
                <a:lnTo>
                  <a:pt x="1006704" y="387501"/>
                </a:lnTo>
                <a:lnTo>
                  <a:pt x="0" y="3875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4984" t="-138525" r="-35477" b="-135906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grpSp>
        <p:nvGrpSpPr>
          <p:cNvPr id="9" name="Group 9"/>
          <p:cNvGrpSpPr/>
          <p:nvPr/>
        </p:nvGrpSpPr>
        <p:grpSpPr>
          <a:xfrm>
            <a:off x="1331266" y="6216617"/>
            <a:ext cx="4562874" cy="1813870"/>
            <a:chOff x="0" y="0"/>
            <a:chExt cx="1201745" cy="47772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01745" cy="477727"/>
            </a:xfrm>
            <a:custGeom>
              <a:avLst/>
              <a:gdLst/>
              <a:ahLst/>
              <a:cxnLst/>
              <a:rect l="l" t="t" r="r" b="b"/>
              <a:pathLst>
                <a:path w="1201745" h="477727">
                  <a:moveTo>
                    <a:pt x="0" y="0"/>
                  </a:moveTo>
                  <a:lnTo>
                    <a:pt x="1201745" y="0"/>
                  </a:lnTo>
                  <a:lnTo>
                    <a:pt x="1201745" y="477727"/>
                  </a:lnTo>
                  <a:lnTo>
                    <a:pt x="0" y="477727"/>
                  </a:lnTo>
                  <a:close/>
                </a:path>
              </a:pathLst>
            </a:custGeom>
            <a:solidFill>
              <a:srgbClr val="E6E3FF"/>
            </a:solidFill>
          </p:spPr>
          <p:txBody>
            <a:bodyPr/>
            <a:lstStyle/>
            <a:p>
              <a:endParaRPr lang="id-I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201745" cy="487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737688" y="2944850"/>
            <a:ext cx="803912" cy="796107"/>
          </a:xfrm>
          <a:custGeom>
            <a:avLst/>
            <a:gdLst/>
            <a:ahLst/>
            <a:cxnLst/>
            <a:rect l="l" t="t" r="r" b="b"/>
            <a:pathLst>
              <a:path w="803912" h="796107">
                <a:moveTo>
                  <a:pt x="0" y="0"/>
                </a:moveTo>
                <a:lnTo>
                  <a:pt x="803913" y="0"/>
                </a:lnTo>
                <a:lnTo>
                  <a:pt x="803913" y="796108"/>
                </a:lnTo>
                <a:lnTo>
                  <a:pt x="0" y="7961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grpSp>
        <p:nvGrpSpPr>
          <p:cNvPr id="13" name="Group 13"/>
          <p:cNvGrpSpPr/>
          <p:nvPr/>
        </p:nvGrpSpPr>
        <p:grpSpPr>
          <a:xfrm>
            <a:off x="6570217" y="2576265"/>
            <a:ext cx="4651245" cy="6723961"/>
            <a:chOff x="0" y="0"/>
            <a:chExt cx="1225019" cy="17709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25019" cy="1770920"/>
            </a:xfrm>
            <a:custGeom>
              <a:avLst/>
              <a:gdLst/>
              <a:ahLst/>
              <a:cxnLst/>
              <a:rect l="l" t="t" r="r" b="b"/>
              <a:pathLst>
                <a:path w="1225019" h="1770920">
                  <a:moveTo>
                    <a:pt x="39948" y="0"/>
                  </a:moveTo>
                  <a:lnTo>
                    <a:pt x="1185072" y="0"/>
                  </a:lnTo>
                  <a:cubicBezTo>
                    <a:pt x="1207134" y="0"/>
                    <a:pt x="1225019" y="17885"/>
                    <a:pt x="1225019" y="39948"/>
                  </a:cubicBezTo>
                  <a:lnTo>
                    <a:pt x="1225019" y="1730972"/>
                  </a:lnTo>
                  <a:cubicBezTo>
                    <a:pt x="1225019" y="1753034"/>
                    <a:pt x="1207134" y="1770920"/>
                    <a:pt x="1185072" y="1770920"/>
                  </a:cubicBezTo>
                  <a:lnTo>
                    <a:pt x="39948" y="1770920"/>
                  </a:lnTo>
                  <a:cubicBezTo>
                    <a:pt x="17885" y="1770920"/>
                    <a:pt x="0" y="1753034"/>
                    <a:pt x="0" y="1730972"/>
                  </a:cubicBezTo>
                  <a:lnTo>
                    <a:pt x="0" y="39948"/>
                  </a:lnTo>
                  <a:cubicBezTo>
                    <a:pt x="0" y="17885"/>
                    <a:pt x="17885" y="0"/>
                    <a:pt x="39948" y="0"/>
                  </a:cubicBezTo>
                  <a:close/>
                </a:path>
              </a:pathLst>
            </a:custGeom>
            <a:solidFill>
              <a:srgbClr val="F9F9F9"/>
            </a:solidFill>
            <a:ln w="38100" cap="rnd">
              <a:solidFill>
                <a:srgbClr val="4634DA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225019" cy="180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611161" y="6216617"/>
            <a:ext cx="4562874" cy="1813870"/>
            <a:chOff x="0" y="0"/>
            <a:chExt cx="1201745" cy="47772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01745" cy="477727"/>
            </a:xfrm>
            <a:custGeom>
              <a:avLst/>
              <a:gdLst/>
              <a:ahLst/>
              <a:cxnLst/>
              <a:rect l="l" t="t" r="r" b="b"/>
              <a:pathLst>
                <a:path w="1201745" h="477727">
                  <a:moveTo>
                    <a:pt x="0" y="0"/>
                  </a:moveTo>
                  <a:lnTo>
                    <a:pt x="1201745" y="0"/>
                  </a:lnTo>
                  <a:lnTo>
                    <a:pt x="1201745" y="477727"/>
                  </a:lnTo>
                  <a:lnTo>
                    <a:pt x="0" y="477727"/>
                  </a:lnTo>
                  <a:close/>
                </a:path>
              </a:pathLst>
            </a:custGeom>
            <a:solidFill>
              <a:srgbClr val="E6E3FF"/>
            </a:solidFill>
          </p:spPr>
          <p:txBody>
            <a:bodyPr/>
            <a:lstStyle/>
            <a:p>
              <a:endParaRPr lang="id-ID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201745" cy="487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935837" y="2576265"/>
            <a:ext cx="4651245" cy="6723961"/>
            <a:chOff x="0" y="0"/>
            <a:chExt cx="1225019" cy="17709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25019" cy="1770920"/>
            </a:xfrm>
            <a:custGeom>
              <a:avLst/>
              <a:gdLst/>
              <a:ahLst/>
              <a:cxnLst/>
              <a:rect l="l" t="t" r="r" b="b"/>
              <a:pathLst>
                <a:path w="1225019" h="1770920">
                  <a:moveTo>
                    <a:pt x="39948" y="0"/>
                  </a:moveTo>
                  <a:lnTo>
                    <a:pt x="1185072" y="0"/>
                  </a:lnTo>
                  <a:cubicBezTo>
                    <a:pt x="1207134" y="0"/>
                    <a:pt x="1225019" y="17885"/>
                    <a:pt x="1225019" y="39948"/>
                  </a:cubicBezTo>
                  <a:lnTo>
                    <a:pt x="1225019" y="1730972"/>
                  </a:lnTo>
                  <a:cubicBezTo>
                    <a:pt x="1225019" y="1753034"/>
                    <a:pt x="1207134" y="1770920"/>
                    <a:pt x="1185072" y="1770920"/>
                  </a:cubicBezTo>
                  <a:lnTo>
                    <a:pt x="39948" y="1770920"/>
                  </a:lnTo>
                  <a:cubicBezTo>
                    <a:pt x="17885" y="1770920"/>
                    <a:pt x="0" y="1753034"/>
                    <a:pt x="0" y="1730972"/>
                  </a:cubicBezTo>
                  <a:lnTo>
                    <a:pt x="0" y="39948"/>
                  </a:lnTo>
                  <a:cubicBezTo>
                    <a:pt x="0" y="17885"/>
                    <a:pt x="17885" y="0"/>
                    <a:pt x="39948" y="0"/>
                  </a:cubicBezTo>
                  <a:close/>
                </a:path>
              </a:pathLst>
            </a:custGeom>
            <a:solidFill>
              <a:srgbClr val="F9F9F9"/>
            </a:solidFill>
            <a:ln w="38100" cap="rnd">
              <a:solidFill>
                <a:srgbClr val="4634DA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225019" cy="180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976781" y="6216617"/>
            <a:ext cx="4562874" cy="1813870"/>
            <a:chOff x="0" y="0"/>
            <a:chExt cx="1201745" cy="47772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01745" cy="477727"/>
            </a:xfrm>
            <a:custGeom>
              <a:avLst/>
              <a:gdLst/>
              <a:ahLst/>
              <a:cxnLst/>
              <a:rect l="l" t="t" r="r" b="b"/>
              <a:pathLst>
                <a:path w="1201745" h="477727">
                  <a:moveTo>
                    <a:pt x="0" y="0"/>
                  </a:moveTo>
                  <a:lnTo>
                    <a:pt x="1201745" y="0"/>
                  </a:lnTo>
                  <a:lnTo>
                    <a:pt x="1201745" y="477727"/>
                  </a:lnTo>
                  <a:lnTo>
                    <a:pt x="0" y="477727"/>
                  </a:lnTo>
                  <a:close/>
                </a:path>
              </a:pathLst>
            </a:custGeom>
            <a:solidFill>
              <a:srgbClr val="E6E3FF"/>
            </a:solidFill>
          </p:spPr>
          <p:txBody>
            <a:bodyPr/>
            <a:lstStyle/>
            <a:p>
              <a:endParaRPr lang="id-ID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1201745" cy="4872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7017584" y="2944850"/>
            <a:ext cx="812466" cy="796107"/>
          </a:xfrm>
          <a:custGeom>
            <a:avLst/>
            <a:gdLst/>
            <a:ahLst/>
            <a:cxnLst/>
            <a:rect l="l" t="t" r="r" b="b"/>
            <a:pathLst>
              <a:path w="812466" h="796107">
                <a:moveTo>
                  <a:pt x="0" y="0"/>
                </a:moveTo>
                <a:lnTo>
                  <a:pt x="812465" y="0"/>
                </a:lnTo>
                <a:lnTo>
                  <a:pt x="812465" y="796108"/>
                </a:lnTo>
                <a:lnTo>
                  <a:pt x="0" y="7961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26" name="Freeform 26"/>
          <p:cNvSpPr/>
          <p:nvPr/>
        </p:nvSpPr>
        <p:spPr>
          <a:xfrm>
            <a:off x="12383204" y="2948582"/>
            <a:ext cx="795994" cy="792376"/>
          </a:xfrm>
          <a:custGeom>
            <a:avLst/>
            <a:gdLst/>
            <a:ahLst/>
            <a:cxnLst/>
            <a:rect l="l" t="t" r="r" b="b"/>
            <a:pathLst>
              <a:path w="795994" h="792376">
                <a:moveTo>
                  <a:pt x="0" y="0"/>
                </a:moveTo>
                <a:lnTo>
                  <a:pt x="795994" y="0"/>
                </a:lnTo>
                <a:lnTo>
                  <a:pt x="795994" y="792376"/>
                </a:lnTo>
                <a:lnTo>
                  <a:pt x="0" y="7923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27" name="TextBox 27"/>
          <p:cNvSpPr txBox="1"/>
          <p:nvPr/>
        </p:nvSpPr>
        <p:spPr>
          <a:xfrm>
            <a:off x="1028700" y="768590"/>
            <a:ext cx="6084576" cy="740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1"/>
              </a:lnSpc>
            </a:pPr>
            <a:r>
              <a:rPr lang="en-US" sz="4701" spc="-258">
                <a:solidFill>
                  <a:srgbClr val="29293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Migrasi Data Massal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199727" y="768590"/>
            <a:ext cx="6417394" cy="740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1"/>
              </a:lnSpc>
            </a:pPr>
            <a:r>
              <a:rPr lang="en-US" sz="4701" spc="-258">
                <a:solidFill>
                  <a:srgbClr val="4634D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&amp; Edge Computing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02521" y="8697238"/>
            <a:ext cx="4626846" cy="9573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 algn="ctr">
              <a:lnSpc>
                <a:spcPts val="1865"/>
              </a:lnSpc>
              <a:spcBef>
                <a:spcPct val="0"/>
              </a:spcBef>
            </a:pP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saat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transfer data online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melalui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jaringan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dirasa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terlalu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lambat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atau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mahal, dan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beban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kerjanya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tidak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memerlukan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komputasi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pemrosesan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lokal</a:t>
            </a:r>
            <a:endParaRPr lang="en-US" sz="1554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2808414" y="8173363"/>
            <a:ext cx="1839786" cy="314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kapan</a:t>
            </a:r>
            <a:r>
              <a:rPr lang="en-US" sz="2000" dirty="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dipilih</a:t>
            </a:r>
            <a:r>
              <a:rPr lang="en-US" sz="2000" dirty="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?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19556" y="6350694"/>
            <a:ext cx="88761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7"/>
              </a:lnSpc>
              <a:spcBef>
                <a:spcPct val="0"/>
              </a:spcBef>
            </a:pPr>
            <a:r>
              <a:rPr lang="en-US" sz="1539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Use case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75930" y="3935379"/>
            <a:ext cx="2395058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449" b="1">
                <a:solidFill>
                  <a:srgbClr val="4634DA"/>
                </a:solidFill>
                <a:latin typeface="Poppins Bold"/>
                <a:ea typeface="Poppins Bold"/>
                <a:cs typeface="Poppins Bold"/>
                <a:sym typeface="Poppins Bold"/>
              </a:rPr>
              <a:t>AWS Snowball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23278" y="4507590"/>
            <a:ext cx="4019051" cy="1268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292936"/>
                </a:solidFill>
                <a:latin typeface="Poppins"/>
                <a:ea typeface="Poppins"/>
                <a:cs typeface="Poppins"/>
                <a:sym typeface="Poppins"/>
              </a:rPr>
              <a:t>Appliance penyimpanan portabel </a:t>
            </a:r>
            <a:r>
              <a:rPr lang="en-US" sz="1800" b="1" i="1">
                <a:solidFill>
                  <a:srgbClr val="292936"/>
                </a:solidFill>
                <a:latin typeface="Poppins Semi-Bold Italics"/>
                <a:ea typeface="Poppins Semi-Bold Italics"/>
                <a:cs typeface="Poppins Semi-Bold Italics"/>
                <a:sym typeface="Poppins Semi-Bold Italics"/>
              </a:rPr>
              <a:t>transfer-only</a:t>
            </a:r>
            <a:r>
              <a:rPr lang="en-US" sz="1800">
                <a:solidFill>
                  <a:srgbClr val="292936"/>
                </a:solidFill>
                <a:latin typeface="Poppins"/>
                <a:ea typeface="Poppins"/>
                <a:cs typeface="Poppins"/>
                <a:sym typeface="Poppins"/>
              </a:rPr>
              <a:t> yang dirancang tahan banting (</a:t>
            </a:r>
            <a:r>
              <a:rPr lang="en-US" sz="1800" i="1">
                <a:solidFill>
                  <a:srgbClr val="292936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ruggedized</a:t>
            </a:r>
            <a:r>
              <a:rPr lang="en-US" sz="1800">
                <a:solidFill>
                  <a:srgbClr val="292936"/>
                </a:solidFill>
                <a:latin typeface="Poppins"/>
                <a:ea typeface="Poppins"/>
                <a:cs typeface="Poppins"/>
                <a:sym typeface="Poppins"/>
              </a:rPr>
              <a:t>) dengan enkripsi 256-bit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37688" y="6694287"/>
            <a:ext cx="3966399" cy="1112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20"/>
              </a:lnSpc>
            </a:pPr>
            <a:r>
              <a:rPr lang="en-US" sz="1585">
                <a:solidFill>
                  <a:srgbClr val="292936"/>
                </a:solidFill>
                <a:latin typeface="Poppins"/>
                <a:ea typeface="Poppins"/>
                <a:cs typeface="Poppins"/>
                <a:sym typeface="Poppins"/>
              </a:rPr>
              <a:t>Industri media memindahkan ratusan Terabyte footage film 4K dari studio lokal ke Amazon S3 untuk proses rendering (pasca-produksi)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74425" y="1603541"/>
            <a:ext cx="15723928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  <a:spcBef>
                <a:spcPct val="0"/>
              </a:spcBef>
            </a:pPr>
            <a:r>
              <a:rPr lang="en-US" sz="1950">
                <a:solidFill>
                  <a:srgbClr val="483737"/>
                </a:solidFill>
                <a:latin typeface="Poppins"/>
                <a:ea typeface="Poppins"/>
                <a:cs typeface="Poppins"/>
                <a:sym typeface="Poppins"/>
              </a:rPr>
              <a:t>Jika transfer data </a:t>
            </a:r>
            <a:r>
              <a:rPr lang="en-US" sz="1950" i="1">
                <a:solidFill>
                  <a:srgbClr val="483737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online </a:t>
            </a:r>
            <a:r>
              <a:rPr lang="en-US" sz="1950">
                <a:solidFill>
                  <a:srgbClr val="483737"/>
                </a:solidFill>
                <a:latin typeface="Poppins"/>
                <a:ea typeface="Poppins"/>
                <a:cs typeface="Poppins"/>
                <a:sym typeface="Poppins"/>
              </a:rPr>
              <a:t>memakan waktu berminggu-minggu atau </a:t>
            </a:r>
            <a:r>
              <a:rPr lang="en-US" sz="1950" i="1">
                <a:solidFill>
                  <a:srgbClr val="483737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bandwidth </a:t>
            </a:r>
            <a:r>
              <a:rPr lang="en-US" sz="1950">
                <a:solidFill>
                  <a:srgbClr val="483737"/>
                </a:solidFill>
                <a:latin typeface="Poppins"/>
                <a:ea typeface="Poppins"/>
                <a:cs typeface="Poppins"/>
                <a:sym typeface="Poppins"/>
              </a:rPr>
              <a:t>internet sangat terbatas, penggunaan perangkat keras fisik (Snow Family) jauh lebih ekonomis dan cepat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82417" y="8815711"/>
            <a:ext cx="4626846" cy="720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 algn="ctr">
              <a:lnSpc>
                <a:spcPts val="1865"/>
              </a:lnSpc>
              <a:spcBef>
                <a:spcPct val="0"/>
              </a:spcBef>
            </a:pP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saat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membutuhkan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pemrosesan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lokal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sekaligus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transfer data di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lokasi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edge yang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konektivitas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internetnya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sangat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terbatas</a:t>
            </a:r>
            <a:endParaRPr lang="en-US" sz="1554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8088309" y="8173363"/>
            <a:ext cx="1741491" cy="314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kapan</a:t>
            </a:r>
            <a:r>
              <a:rPr lang="en-US" sz="2000" dirty="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dipilih</a:t>
            </a:r>
            <a:r>
              <a:rPr lang="en-US" sz="2000" dirty="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?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55825" y="3935379"/>
            <a:ext cx="2395058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449" b="1">
                <a:solidFill>
                  <a:srgbClr val="4634DA"/>
                </a:solidFill>
                <a:latin typeface="Poppins Bold"/>
                <a:ea typeface="Poppins Bold"/>
                <a:cs typeface="Poppins Bold"/>
                <a:sym typeface="Poppins Bold"/>
              </a:rPr>
              <a:t>Snowball Edge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903173" y="4507590"/>
            <a:ext cx="4019051" cy="1268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292936"/>
                </a:solidFill>
                <a:latin typeface="Poppins"/>
                <a:ea typeface="Poppins"/>
                <a:cs typeface="Poppins"/>
                <a:sym typeface="Poppins"/>
              </a:rPr>
              <a:t>Memadukan penyimpanan dan komputasi lokal (vCPU/GPU) untuk menjalankan EC2/Lambda di lokasi terpencil.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858163" y="6694287"/>
            <a:ext cx="4156452" cy="11122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20"/>
              </a:lnSpc>
            </a:pPr>
            <a:r>
              <a:rPr lang="en-US" sz="1585">
                <a:solidFill>
                  <a:srgbClr val="292936"/>
                </a:solidFill>
                <a:latin typeface="Poppins"/>
                <a:ea typeface="Poppins"/>
                <a:cs typeface="Poppins"/>
                <a:sym typeface="Poppins"/>
              </a:rPr>
              <a:t>Rig maritim lepas pantai atau kapal laut memproses/menyaring data sensor secara lokal tanpa sinyal satelit, baru mengirimkan agregasinya ke cloud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948037" y="8697238"/>
            <a:ext cx="4626846" cy="9573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 algn="ctr">
              <a:lnSpc>
                <a:spcPts val="1865"/>
              </a:lnSpc>
              <a:spcBef>
                <a:spcPct val="0"/>
              </a:spcBef>
            </a:pP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Dulu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dipilih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memigrasikan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pusat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data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skala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exabyte.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Namun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karena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layanannya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sudah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dipensiunkan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diarahkan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cluster Snowball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atau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AWS </a:t>
            </a:r>
            <a:r>
              <a:rPr lang="en-US" sz="1554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DataSync</a:t>
            </a:r>
            <a:r>
              <a:rPr lang="en-US" sz="15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453929" y="8169719"/>
            <a:ext cx="1786071" cy="317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kapan</a:t>
            </a:r>
            <a:r>
              <a:rPr lang="en-US" sz="2000" dirty="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dipilih</a:t>
            </a:r>
            <a:r>
              <a:rPr lang="en-US" sz="2000" dirty="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?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321445" y="3935379"/>
            <a:ext cx="3251561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449" b="1">
                <a:solidFill>
                  <a:srgbClr val="4634DA"/>
                </a:solidFill>
                <a:latin typeface="Poppins Bold"/>
                <a:ea typeface="Poppins Bold"/>
                <a:cs typeface="Poppins Bold"/>
                <a:sym typeface="Poppins Bold"/>
              </a:rPr>
              <a:t>AWS Snowmobile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268793" y="4507590"/>
            <a:ext cx="4019051" cy="1268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292936"/>
                </a:solidFill>
                <a:latin typeface="Poppins"/>
                <a:ea typeface="Poppins"/>
                <a:cs typeface="Poppins"/>
                <a:sym typeface="Poppins"/>
              </a:rPr>
              <a:t>Truk kontainer raksasa 45 kaki untuk migrasi pusat data penuh berskala Exabyte (Kapasitas hingga 100 PB)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268793" y="6665019"/>
            <a:ext cx="4166116" cy="1286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80"/>
              </a:lnSpc>
            </a:pPr>
            <a:r>
              <a:rPr lang="en-US" sz="1485">
                <a:solidFill>
                  <a:srgbClr val="292936"/>
                </a:solidFill>
                <a:latin typeface="Poppins"/>
                <a:ea typeface="Poppins"/>
                <a:cs typeface="Poppins"/>
                <a:sym typeface="Poppins"/>
              </a:rPr>
              <a:t>badan antariksa ingin memigrasikan data center on-premises ke cloud. Data berisi arsip satelit resolusi tinggi dan topografi bumi dari puluhan tahun lalu yang besarnya mencapai skala Exabyte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903173" y="6350694"/>
            <a:ext cx="88761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7"/>
              </a:lnSpc>
              <a:spcBef>
                <a:spcPct val="0"/>
              </a:spcBef>
            </a:pPr>
            <a:r>
              <a:rPr lang="en-US" sz="1539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Use case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268793" y="6350694"/>
            <a:ext cx="88761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7"/>
              </a:lnSpc>
              <a:spcBef>
                <a:spcPct val="0"/>
              </a:spcBef>
            </a:pPr>
            <a:r>
              <a:rPr lang="en-US" sz="1539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Use case</a:t>
            </a:r>
          </a:p>
        </p:txBody>
      </p:sp>
      <p:sp>
        <p:nvSpPr>
          <p:cNvPr id="48" name="Freeform 48"/>
          <p:cNvSpPr/>
          <p:nvPr/>
        </p:nvSpPr>
        <p:spPr>
          <a:xfrm rot="-108736">
            <a:off x="16206684" y="295412"/>
            <a:ext cx="1780964" cy="1814995"/>
          </a:xfrm>
          <a:custGeom>
            <a:avLst/>
            <a:gdLst/>
            <a:ahLst/>
            <a:cxnLst/>
            <a:rect l="l" t="t" r="r" b="b"/>
            <a:pathLst>
              <a:path w="1780964" h="1814995">
                <a:moveTo>
                  <a:pt x="0" y="0"/>
                </a:moveTo>
                <a:lnTo>
                  <a:pt x="1780964" y="0"/>
                </a:lnTo>
                <a:lnTo>
                  <a:pt x="1780964" y="1814995"/>
                </a:lnTo>
                <a:lnTo>
                  <a:pt x="0" y="18149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4505" y="7007149"/>
            <a:ext cx="3685324" cy="3528697"/>
          </a:xfrm>
          <a:custGeom>
            <a:avLst/>
            <a:gdLst/>
            <a:ahLst/>
            <a:cxnLst/>
            <a:rect l="l" t="t" r="r" b="b"/>
            <a:pathLst>
              <a:path w="3685324" h="3528697">
                <a:moveTo>
                  <a:pt x="0" y="0"/>
                </a:moveTo>
                <a:lnTo>
                  <a:pt x="3685324" y="0"/>
                </a:lnTo>
                <a:lnTo>
                  <a:pt x="3685324" y="3528698"/>
                </a:lnTo>
                <a:lnTo>
                  <a:pt x="0" y="35286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grpSp>
        <p:nvGrpSpPr>
          <p:cNvPr id="3" name="Group 3"/>
          <p:cNvGrpSpPr/>
          <p:nvPr/>
        </p:nvGrpSpPr>
        <p:grpSpPr>
          <a:xfrm>
            <a:off x="2021701" y="2340589"/>
            <a:ext cx="7028449" cy="6723961"/>
            <a:chOff x="0" y="0"/>
            <a:chExt cx="1851114" cy="17709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51114" cy="1770920"/>
            </a:xfrm>
            <a:custGeom>
              <a:avLst/>
              <a:gdLst/>
              <a:ahLst/>
              <a:cxnLst/>
              <a:rect l="l" t="t" r="r" b="b"/>
              <a:pathLst>
                <a:path w="1851114" h="1770920">
                  <a:moveTo>
                    <a:pt x="26436" y="0"/>
                  </a:moveTo>
                  <a:lnTo>
                    <a:pt x="1824678" y="0"/>
                  </a:lnTo>
                  <a:cubicBezTo>
                    <a:pt x="1839278" y="0"/>
                    <a:pt x="1851114" y="11836"/>
                    <a:pt x="1851114" y="26436"/>
                  </a:cubicBezTo>
                  <a:lnTo>
                    <a:pt x="1851114" y="1744483"/>
                  </a:lnTo>
                  <a:cubicBezTo>
                    <a:pt x="1851114" y="1759084"/>
                    <a:pt x="1839278" y="1770920"/>
                    <a:pt x="1824678" y="1770920"/>
                  </a:cubicBezTo>
                  <a:lnTo>
                    <a:pt x="26436" y="1770920"/>
                  </a:lnTo>
                  <a:cubicBezTo>
                    <a:pt x="11836" y="1770920"/>
                    <a:pt x="0" y="1759084"/>
                    <a:pt x="0" y="1744483"/>
                  </a:cubicBezTo>
                  <a:lnTo>
                    <a:pt x="0" y="26436"/>
                  </a:lnTo>
                  <a:cubicBezTo>
                    <a:pt x="0" y="11836"/>
                    <a:pt x="11836" y="0"/>
                    <a:pt x="26436" y="0"/>
                  </a:cubicBezTo>
                  <a:close/>
                </a:path>
              </a:pathLst>
            </a:custGeom>
            <a:solidFill>
              <a:srgbClr val="F9F9F9"/>
            </a:solidFill>
            <a:ln w="38100" cap="rnd">
              <a:solidFill>
                <a:srgbClr val="4634DA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51114" cy="180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735684" y="7007149"/>
            <a:ext cx="5378824" cy="4114800"/>
          </a:xfrm>
          <a:custGeom>
            <a:avLst/>
            <a:gdLst/>
            <a:ahLst/>
            <a:cxnLst/>
            <a:rect l="l" t="t" r="r" b="b"/>
            <a:pathLst>
              <a:path w="5378824" h="4114800">
                <a:moveTo>
                  <a:pt x="0" y="0"/>
                </a:moveTo>
                <a:lnTo>
                  <a:pt x="5378823" y="0"/>
                </a:lnTo>
                <a:lnTo>
                  <a:pt x="53788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sp>
        <p:nvSpPr>
          <p:cNvPr id="7" name="Freeform 7"/>
          <p:cNvSpPr/>
          <p:nvPr/>
        </p:nvSpPr>
        <p:spPr>
          <a:xfrm>
            <a:off x="17425096" y="-402805"/>
            <a:ext cx="862904" cy="1730134"/>
          </a:xfrm>
          <a:custGeom>
            <a:avLst/>
            <a:gdLst/>
            <a:ahLst/>
            <a:cxnLst/>
            <a:rect l="l" t="t" r="r" b="b"/>
            <a:pathLst>
              <a:path w="862904" h="1730134">
                <a:moveTo>
                  <a:pt x="0" y="0"/>
                </a:moveTo>
                <a:lnTo>
                  <a:pt x="862904" y="0"/>
                </a:lnTo>
                <a:lnTo>
                  <a:pt x="862904" y="1730134"/>
                </a:lnTo>
                <a:lnTo>
                  <a:pt x="0" y="17301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sp>
        <p:nvSpPr>
          <p:cNvPr id="8" name="Freeform 8"/>
          <p:cNvSpPr/>
          <p:nvPr/>
        </p:nvSpPr>
        <p:spPr>
          <a:xfrm>
            <a:off x="220163" y="7281233"/>
            <a:ext cx="888685" cy="888685"/>
          </a:xfrm>
          <a:custGeom>
            <a:avLst/>
            <a:gdLst/>
            <a:ahLst/>
            <a:cxnLst/>
            <a:rect l="l" t="t" r="r" b="b"/>
            <a:pathLst>
              <a:path w="888685" h="888685">
                <a:moveTo>
                  <a:pt x="0" y="0"/>
                </a:moveTo>
                <a:lnTo>
                  <a:pt x="888684" y="0"/>
                </a:lnTo>
                <a:lnTo>
                  <a:pt x="888684" y="888684"/>
                </a:lnTo>
                <a:lnTo>
                  <a:pt x="0" y="8886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9" name="Freeform 9"/>
          <p:cNvSpPr/>
          <p:nvPr/>
        </p:nvSpPr>
        <p:spPr>
          <a:xfrm>
            <a:off x="13728980" y="9460795"/>
            <a:ext cx="1006704" cy="387501"/>
          </a:xfrm>
          <a:custGeom>
            <a:avLst/>
            <a:gdLst/>
            <a:ahLst/>
            <a:cxnLst/>
            <a:rect l="l" t="t" r="r" b="b"/>
            <a:pathLst>
              <a:path w="1006704" h="387501">
                <a:moveTo>
                  <a:pt x="0" y="0"/>
                </a:moveTo>
                <a:lnTo>
                  <a:pt x="1006704" y="0"/>
                </a:lnTo>
                <a:lnTo>
                  <a:pt x="1006704" y="387501"/>
                </a:lnTo>
                <a:lnTo>
                  <a:pt x="0" y="3875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4984" t="-138525" r="-35477" b="-135906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grpSp>
        <p:nvGrpSpPr>
          <p:cNvPr id="10" name="Group 10"/>
          <p:cNvGrpSpPr/>
          <p:nvPr/>
        </p:nvGrpSpPr>
        <p:grpSpPr>
          <a:xfrm>
            <a:off x="2328782" y="5640277"/>
            <a:ext cx="6414285" cy="2420602"/>
            <a:chOff x="0" y="0"/>
            <a:chExt cx="1689359" cy="6375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89359" cy="637525"/>
            </a:xfrm>
            <a:custGeom>
              <a:avLst/>
              <a:gdLst/>
              <a:ahLst/>
              <a:cxnLst/>
              <a:rect l="l" t="t" r="r" b="b"/>
              <a:pathLst>
                <a:path w="1689359" h="637525">
                  <a:moveTo>
                    <a:pt x="19312" y="0"/>
                  </a:moveTo>
                  <a:lnTo>
                    <a:pt x="1670047" y="0"/>
                  </a:lnTo>
                  <a:cubicBezTo>
                    <a:pt x="1680713" y="0"/>
                    <a:pt x="1689359" y="8646"/>
                    <a:pt x="1689359" y="19312"/>
                  </a:cubicBezTo>
                  <a:lnTo>
                    <a:pt x="1689359" y="618213"/>
                  </a:lnTo>
                  <a:cubicBezTo>
                    <a:pt x="1689359" y="628879"/>
                    <a:pt x="1680713" y="637525"/>
                    <a:pt x="1670047" y="637525"/>
                  </a:cubicBezTo>
                  <a:lnTo>
                    <a:pt x="19312" y="637525"/>
                  </a:lnTo>
                  <a:cubicBezTo>
                    <a:pt x="14190" y="637525"/>
                    <a:pt x="9278" y="635490"/>
                    <a:pt x="5656" y="631869"/>
                  </a:cubicBezTo>
                  <a:cubicBezTo>
                    <a:pt x="2035" y="628247"/>
                    <a:pt x="0" y="623335"/>
                    <a:pt x="0" y="618213"/>
                  </a:cubicBezTo>
                  <a:lnTo>
                    <a:pt x="0" y="19312"/>
                  </a:lnTo>
                  <a:cubicBezTo>
                    <a:pt x="0" y="8646"/>
                    <a:pt x="8646" y="0"/>
                    <a:pt x="19312" y="0"/>
                  </a:cubicBezTo>
                  <a:close/>
                </a:path>
              </a:pathLst>
            </a:custGeom>
            <a:solidFill>
              <a:srgbClr val="E6E3FF"/>
            </a:solidFill>
          </p:spPr>
          <p:txBody>
            <a:bodyPr/>
            <a:lstStyle/>
            <a:p>
              <a:endParaRPr lang="id-ID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689359" cy="647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55643" y="2333644"/>
            <a:ext cx="7028449" cy="6723961"/>
            <a:chOff x="0" y="0"/>
            <a:chExt cx="1851114" cy="17709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51114" cy="1770920"/>
            </a:xfrm>
            <a:custGeom>
              <a:avLst/>
              <a:gdLst/>
              <a:ahLst/>
              <a:cxnLst/>
              <a:rect l="l" t="t" r="r" b="b"/>
              <a:pathLst>
                <a:path w="1851114" h="1770920">
                  <a:moveTo>
                    <a:pt x="26436" y="0"/>
                  </a:moveTo>
                  <a:lnTo>
                    <a:pt x="1824678" y="0"/>
                  </a:lnTo>
                  <a:cubicBezTo>
                    <a:pt x="1839278" y="0"/>
                    <a:pt x="1851114" y="11836"/>
                    <a:pt x="1851114" y="26436"/>
                  </a:cubicBezTo>
                  <a:lnTo>
                    <a:pt x="1851114" y="1744483"/>
                  </a:lnTo>
                  <a:cubicBezTo>
                    <a:pt x="1851114" y="1759084"/>
                    <a:pt x="1839278" y="1770920"/>
                    <a:pt x="1824678" y="1770920"/>
                  </a:cubicBezTo>
                  <a:lnTo>
                    <a:pt x="26436" y="1770920"/>
                  </a:lnTo>
                  <a:cubicBezTo>
                    <a:pt x="11836" y="1770920"/>
                    <a:pt x="0" y="1759084"/>
                    <a:pt x="0" y="1744483"/>
                  </a:cubicBezTo>
                  <a:lnTo>
                    <a:pt x="0" y="26436"/>
                  </a:lnTo>
                  <a:cubicBezTo>
                    <a:pt x="0" y="11836"/>
                    <a:pt x="11836" y="0"/>
                    <a:pt x="26436" y="0"/>
                  </a:cubicBezTo>
                  <a:close/>
                </a:path>
              </a:pathLst>
            </a:custGeom>
            <a:solidFill>
              <a:srgbClr val="F9F9F9"/>
            </a:solidFill>
            <a:ln w="38100" cap="rnd">
              <a:solidFill>
                <a:srgbClr val="4634DA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851114" cy="1809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862725" y="5633333"/>
            <a:ext cx="6414285" cy="2427547"/>
            <a:chOff x="0" y="0"/>
            <a:chExt cx="1689359" cy="63935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89359" cy="639354"/>
            </a:xfrm>
            <a:custGeom>
              <a:avLst/>
              <a:gdLst/>
              <a:ahLst/>
              <a:cxnLst/>
              <a:rect l="l" t="t" r="r" b="b"/>
              <a:pathLst>
                <a:path w="1689359" h="639354">
                  <a:moveTo>
                    <a:pt x="19312" y="0"/>
                  </a:moveTo>
                  <a:lnTo>
                    <a:pt x="1670047" y="0"/>
                  </a:lnTo>
                  <a:cubicBezTo>
                    <a:pt x="1680713" y="0"/>
                    <a:pt x="1689359" y="8646"/>
                    <a:pt x="1689359" y="19312"/>
                  </a:cubicBezTo>
                  <a:lnTo>
                    <a:pt x="1689359" y="620042"/>
                  </a:lnTo>
                  <a:cubicBezTo>
                    <a:pt x="1689359" y="625164"/>
                    <a:pt x="1687325" y="630076"/>
                    <a:pt x="1683703" y="633698"/>
                  </a:cubicBezTo>
                  <a:cubicBezTo>
                    <a:pt x="1680081" y="637319"/>
                    <a:pt x="1675169" y="639354"/>
                    <a:pt x="1670047" y="639354"/>
                  </a:cubicBezTo>
                  <a:lnTo>
                    <a:pt x="19312" y="639354"/>
                  </a:lnTo>
                  <a:cubicBezTo>
                    <a:pt x="8646" y="639354"/>
                    <a:pt x="0" y="630708"/>
                    <a:pt x="0" y="620042"/>
                  </a:cubicBezTo>
                  <a:lnTo>
                    <a:pt x="0" y="19312"/>
                  </a:lnTo>
                  <a:cubicBezTo>
                    <a:pt x="0" y="8646"/>
                    <a:pt x="8646" y="0"/>
                    <a:pt x="19312" y="0"/>
                  </a:cubicBezTo>
                  <a:close/>
                </a:path>
              </a:pathLst>
            </a:custGeom>
            <a:solidFill>
              <a:srgbClr val="E6E3FF"/>
            </a:solidFill>
          </p:spPr>
          <p:txBody>
            <a:bodyPr/>
            <a:lstStyle/>
            <a:p>
              <a:endParaRPr lang="id-ID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689359" cy="648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470148" y="2637728"/>
            <a:ext cx="654158" cy="650276"/>
          </a:xfrm>
          <a:custGeom>
            <a:avLst/>
            <a:gdLst/>
            <a:ahLst/>
            <a:cxnLst/>
            <a:rect l="l" t="t" r="r" b="b"/>
            <a:pathLst>
              <a:path w="654158" h="650276">
                <a:moveTo>
                  <a:pt x="0" y="0"/>
                </a:moveTo>
                <a:lnTo>
                  <a:pt x="654158" y="0"/>
                </a:lnTo>
                <a:lnTo>
                  <a:pt x="654158" y="650276"/>
                </a:lnTo>
                <a:lnTo>
                  <a:pt x="0" y="6502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20" name="Freeform 20"/>
          <p:cNvSpPr/>
          <p:nvPr/>
        </p:nvSpPr>
        <p:spPr>
          <a:xfrm>
            <a:off x="9975390" y="2607198"/>
            <a:ext cx="680806" cy="680806"/>
          </a:xfrm>
          <a:custGeom>
            <a:avLst/>
            <a:gdLst/>
            <a:ahLst/>
            <a:cxnLst/>
            <a:rect l="l" t="t" r="r" b="b"/>
            <a:pathLst>
              <a:path w="680806" h="680806">
                <a:moveTo>
                  <a:pt x="0" y="0"/>
                </a:moveTo>
                <a:lnTo>
                  <a:pt x="680806" y="0"/>
                </a:lnTo>
                <a:lnTo>
                  <a:pt x="680806" y="680806"/>
                </a:lnTo>
                <a:lnTo>
                  <a:pt x="0" y="6808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21" name="TextBox 21"/>
          <p:cNvSpPr txBox="1"/>
          <p:nvPr/>
        </p:nvSpPr>
        <p:spPr>
          <a:xfrm>
            <a:off x="2425398" y="3620977"/>
            <a:ext cx="6317670" cy="18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2000">
                <a:solidFill>
                  <a:srgbClr val="292936"/>
                </a:solidFill>
                <a:latin typeface="Poppins"/>
                <a:ea typeface="Poppins"/>
                <a:cs typeface="Poppins"/>
                <a:sym typeface="Poppins"/>
              </a:rPr>
              <a:t>Layanan terkelola untuk mengotomasi dan memusatkan backup di banyak layanan AWS (EBS, EFS, RDS, DynamoDB, S3, EC2) maupun beban kerja hybrid. Berbasis kebijakan (backup plan): atur frekuensi, retensi, enkripsi, hingga immutability lewat Backup Vault Lock (WORM).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271681" y="2768950"/>
            <a:ext cx="4165779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449" b="1">
                <a:solidFill>
                  <a:srgbClr val="4634DA"/>
                </a:solidFill>
                <a:latin typeface="Poppins Bold"/>
                <a:ea typeface="Poppins Bold"/>
                <a:cs typeface="Poppins Bold"/>
                <a:sym typeface="Poppins Bold"/>
              </a:rPr>
              <a:t>AWS Backup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8908" y="942661"/>
            <a:ext cx="8131241" cy="1333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1"/>
              </a:lnSpc>
            </a:pPr>
            <a:r>
              <a:rPr lang="en-US" sz="4701" spc="-258">
                <a:solidFill>
                  <a:srgbClr val="4634D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Backup &amp; Hybrid Storage</a:t>
            </a:r>
          </a:p>
          <a:p>
            <a:pPr algn="l">
              <a:lnSpc>
                <a:spcPts val="4701"/>
              </a:lnSpc>
            </a:pPr>
            <a:endParaRPr lang="en-US" sz="4701" spc="-258">
              <a:solidFill>
                <a:srgbClr val="4634DA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632194" y="5787880"/>
            <a:ext cx="2358182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7"/>
              </a:lnSpc>
              <a:spcBef>
                <a:spcPct val="0"/>
              </a:spcBef>
            </a:pPr>
            <a:r>
              <a:rPr lang="en-US" sz="1539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Skenario Implementasi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797227" y="6141325"/>
            <a:ext cx="5739084" cy="1772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52"/>
              </a:lnSpc>
            </a:pPr>
            <a:r>
              <a:rPr lang="en-US" sz="17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Perusahaan dengan banyak layanan (EC2, RDS, DynamoDB, EFS) menerapkan satu kebijakan backup terpusat untuk memenuhi target RPO/RTO dan audit kepatuhan, lengkap dengan salinan lintas-Region sebagai strategi disaster recovery, tanpa perlu skrip backup terpisah per layanan.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03167" y="8731174"/>
            <a:ext cx="5265516" cy="9429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Saat butuh otomasi &amp; sentralisasi backup serta disaster recovery lintas banyak layanan AWS.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11535" y="8169918"/>
            <a:ext cx="1765465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kapan</a:t>
            </a:r>
            <a:r>
              <a:rPr lang="en-US" sz="2000" dirty="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dipilih</a:t>
            </a:r>
            <a:r>
              <a:rPr lang="en-US" sz="2000" dirty="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?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959340" y="3623558"/>
            <a:ext cx="6317670" cy="173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80"/>
              </a:lnSpc>
            </a:pPr>
            <a:r>
              <a:rPr lang="en-US" sz="1900">
                <a:solidFill>
                  <a:srgbClr val="292936"/>
                </a:solidFill>
                <a:latin typeface="Poppins"/>
                <a:ea typeface="Poppins"/>
                <a:cs typeface="Poppins"/>
                <a:sym typeface="Poppins"/>
              </a:rPr>
              <a:t>Layanan hybrid cloud storage yang menghubungkan aplikasi on-premises ke penyimpanan AWS, memberi akses lokal berlatensi rendah (via cache) ke data yang sebenarnya tersimpan di cloud (S3, Glacier, EBS, FSx). Tersedia 4 tipe: S3 File, FSx File, Volume, dan Tape Gateway.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805624" y="2762006"/>
            <a:ext cx="4165779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449" b="1">
                <a:solidFill>
                  <a:srgbClr val="4634DA"/>
                </a:solidFill>
                <a:latin typeface="Poppins Bold"/>
                <a:ea typeface="Poppins Bold"/>
                <a:cs typeface="Poppins Bold"/>
                <a:sym typeface="Poppins Bold"/>
              </a:rPr>
              <a:t>AWS Storage Gateway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331170" y="6134380"/>
            <a:ext cx="5739084" cy="1772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52"/>
              </a:lnSpc>
            </a:pPr>
            <a:r>
              <a:rPr lang="en-US" sz="17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Kantor cabang memakai Tape Gateway untuk menggantikan tape fisik: aplikasi backup lama tetap "melihat" pita virtual, tetapi data diarsipkan murah ke S3 Glacier. Alternatif: S3 File Gateway membuat berkas on-premises otomatis tersimpan sebagai objek S3.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437109" y="8724230"/>
            <a:ext cx="5265516" cy="9429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Saat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aplikasi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on-premises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perlu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akses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cloud storage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berlatensi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rendah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secara</a:t>
            </a: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hybrid.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245477" y="8215427"/>
            <a:ext cx="1984714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dirty="0" err="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kapan</a:t>
            </a:r>
            <a:r>
              <a:rPr lang="en-US" sz="2000" dirty="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dipilih</a:t>
            </a:r>
            <a:r>
              <a:rPr lang="en-US" sz="2000" dirty="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?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009116" y="5787880"/>
            <a:ext cx="2358182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7"/>
              </a:lnSpc>
              <a:spcBef>
                <a:spcPct val="0"/>
              </a:spcBef>
            </a:pPr>
            <a:r>
              <a:rPr lang="en-US" sz="1539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Skenario Implementasi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44260" y="1674473"/>
            <a:ext cx="13461029" cy="7256209"/>
          </a:xfrm>
          <a:custGeom>
            <a:avLst/>
            <a:gdLst/>
            <a:ahLst/>
            <a:cxnLst/>
            <a:rect l="l" t="t" r="r" b="b"/>
            <a:pathLst>
              <a:path w="13461029" h="7256209">
                <a:moveTo>
                  <a:pt x="1671285" y="0"/>
                </a:moveTo>
                <a:lnTo>
                  <a:pt x="13232428" y="0"/>
                </a:lnTo>
                <a:cubicBezTo>
                  <a:pt x="13293057" y="0"/>
                  <a:pt x="13351202" y="24085"/>
                  <a:pt x="13394072" y="66955"/>
                </a:cubicBezTo>
                <a:cubicBezTo>
                  <a:pt x="13436944" y="109826"/>
                  <a:pt x="13461028" y="167972"/>
                  <a:pt x="13461028" y="228600"/>
                </a:cubicBezTo>
                <a:lnTo>
                  <a:pt x="13461028" y="7027609"/>
                </a:lnTo>
                <a:cubicBezTo>
                  <a:pt x="13461028" y="7153861"/>
                  <a:pt x="13358681" y="7256209"/>
                  <a:pt x="13232428" y="7256209"/>
                </a:cubicBezTo>
                <a:lnTo>
                  <a:pt x="228600" y="7256209"/>
                </a:lnTo>
                <a:cubicBezTo>
                  <a:pt x="167971" y="7256209"/>
                  <a:pt x="109826" y="7232124"/>
                  <a:pt x="66955" y="7189253"/>
                </a:cubicBezTo>
                <a:cubicBezTo>
                  <a:pt x="24084" y="7146383"/>
                  <a:pt x="0" y="7088238"/>
                  <a:pt x="0" y="7027609"/>
                </a:cubicBezTo>
                <a:lnTo>
                  <a:pt x="0" y="3278610"/>
                </a:lnTo>
                <a:cubicBezTo>
                  <a:pt x="0" y="3265953"/>
                  <a:pt x="10260" y="3255693"/>
                  <a:pt x="22917" y="3255693"/>
                </a:cubicBezTo>
                <a:lnTo>
                  <a:pt x="45833" y="3255693"/>
                </a:lnTo>
              </a:path>
            </a:pathLst>
          </a:custGeom>
          <a:ln w="76200" cap="flat">
            <a:solidFill>
              <a:srgbClr val="4634DA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id-ID"/>
          </a:p>
        </p:txBody>
      </p:sp>
      <p:grpSp>
        <p:nvGrpSpPr>
          <p:cNvPr id="3" name="Group 3"/>
          <p:cNvGrpSpPr/>
          <p:nvPr/>
        </p:nvGrpSpPr>
        <p:grpSpPr>
          <a:xfrm>
            <a:off x="5121979" y="565382"/>
            <a:ext cx="4205094" cy="2274295"/>
            <a:chOff x="0" y="0"/>
            <a:chExt cx="1107515" cy="59899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07515" cy="598991"/>
            </a:xfrm>
            <a:custGeom>
              <a:avLst/>
              <a:gdLst/>
              <a:ahLst/>
              <a:cxnLst/>
              <a:rect l="l" t="t" r="r" b="b"/>
              <a:pathLst>
                <a:path w="1107515" h="598991">
                  <a:moveTo>
                    <a:pt x="40504" y="0"/>
                  </a:moveTo>
                  <a:lnTo>
                    <a:pt x="1067011" y="0"/>
                  </a:lnTo>
                  <a:cubicBezTo>
                    <a:pt x="1089380" y="0"/>
                    <a:pt x="1107515" y="18134"/>
                    <a:pt x="1107515" y="40504"/>
                  </a:cubicBezTo>
                  <a:lnTo>
                    <a:pt x="1107515" y="558487"/>
                  </a:lnTo>
                  <a:cubicBezTo>
                    <a:pt x="1107515" y="580857"/>
                    <a:pt x="1089380" y="598991"/>
                    <a:pt x="1067011" y="598991"/>
                  </a:cubicBezTo>
                  <a:lnTo>
                    <a:pt x="40504" y="598991"/>
                  </a:lnTo>
                  <a:cubicBezTo>
                    <a:pt x="18134" y="598991"/>
                    <a:pt x="0" y="580857"/>
                    <a:pt x="0" y="558487"/>
                  </a:cubicBezTo>
                  <a:lnTo>
                    <a:pt x="0" y="40504"/>
                  </a:lnTo>
                  <a:cubicBezTo>
                    <a:pt x="0" y="18134"/>
                    <a:pt x="18134" y="0"/>
                    <a:pt x="40504" y="0"/>
                  </a:cubicBezTo>
                  <a:close/>
                </a:path>
              </a:pathLst>
            </a:custGeom>
            <a:solidFill>
              <a:srgbClr val="F9F9F9"/>
            </a:solidFill>
            <a:ln w="38100" cap="rnd">
              <a:solidFill>
                <a:srgbClr val="4634DA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107515" cy="6085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648347" y="590695"/>
            <a:ext cx="3857834" cy="2274295"/>
            <a:chOff x="0" y="0"/>
            <a:chExt cx="1016055" cy="59899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6055" cy="598991"/>
            </a:xfrm>
            <a:custGeom>
              <a:avLst/>
              <a:gdLst/>
              <a:ahLst/>
              <a:cxnLst/>
              <a:rect l="l" t="t" r="r" b="b"/>
              <a:pathLst>
                <a:path w="1016055" h="598991">
                  <a:moveTo>
                    <a:pt x="44150" y="0"/>
                  </a:moveTo>
                  <a:lnTo>
                    <a:pt x="971905" y="0"/>
                  </a:lnTo>
                  <a:cubicBezTo>
                    <a:pt x="983615" y="0"/>
                    <a:pt x="994844" y="4651"/>
                    <a:pt x="1003124" y="12931"/>
                  </a:cubicBezTo>
                  <a:cubicBezTo>
                    <a:pt x="1011404" y="21211"/>
                    <a:pt x="1016055" y="32440"/>
                    <a:pt x="1016055" y="44150"/>
                  </a:cubicBezTo>
                  <a:lnTo>
                    <a:pt x="1016055" y="554842"/>
                  </a:lnTo>
                  <a:cubicBezTo>
                    <a:pt x="1016055" y="579225"/>
                    <a:pt x="996289" y="598991"/>
                    <a:pt x="971905" y="598991"/>
                  </a:cubicBezTo>
                  <a:lnTo>
                    <a:pt x="44150" y="598991"/>
                  </a:lnTo>
                  <a:cubicBezTo>
                    <a:pt x="19766" y="598991"/>
                    <a:pt x="0" y="579225"/>
                    <a:pt x="0" y="554842"/>
                  </a:cubicBezTo>
                  <a:lnTo>
                    <a:pt x="0" y="44150"/>
                  </a:lnTo>
                  <a:cubicBezTo>
                    <a:pt x="0" y="19766"/>
                    <a:pt x="19766" y="0"/>
                    <a:pt x="44150" y="0"/>
                  </a:cubicBezTo>
                  <a:close/>
                </a:path>
              </a:pathLst>
            </a:custGeom>
            <a:solidFill>
              <a:srgbClr val="F9F9F9"/>
            </a:solidFill>
            <a:ln w="38100" cap="rnd">
              <a:solidFill>
                <a:srgbClr val="4634DA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016055" cy="6085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830031" y="602930"/>
            <a:ext cx="3857834" cy="2274295"/>
            <a:chOff x="0" y="0"/>
            <a:chExt cx="1016055" cy="59899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16055" cy="598991"/>
            </a:xfrm>
            <a:custGeom>
              <a:avLst/>
              <a:gdLst/>
              <a:ahLst/>
              <a:cxnLst/>
              <a:rect l="l" t="t" r="r" b="b"/>
              <a:pathLst>
                <a:path w="1016055" h="598991">
                  <a:moveTo>
                    <a:pt x="44150" y="0"/>
                  </a:moveTo>
                  <a:lnTo>
                    <a:pt x="971905" y="0"/>
                  </a:lnTo>
                  <a:cubicBezTo>
                    <a:pt x="983615" y="0"/>
                    <a:pt x="994844" y="4651"/>
                    <a:pt x="1003124" y="12931"/>
                  </a:cubicBezTo>
                  <a:cubicBezTo>
                    <a:pt x="1011404" y="21211"/>
                    <a:pt x="1016055" y="32440"/>
                    <a:pt x="1016055" y="44150"/>
                  </a:cubicBezTo>
                  <a:lnTo>
                    <a:pt x="1016055" y="554842"/>
                  </a:lnTo>
                  <a:cubicBezTo>
                    <a:pt x="1016055" y="579225"/>
                    <a:pt x="996289" y="598991"/>
                    <a:pt x="971905" y="598991"/>
                  </a:cubicBezTo>
                  <a:lnTo>
                    <a:pt x="44150" y="598991"/>
                  </a:lnTo>
                  <a:cubicBezTo>
                    <a:pt x="19766" y="598991"/>
                    <a:pt x="0" y="579225"/>
                    <a:pt x="0" y="554842"/>
                  </a:cubicBezTo>
                  <a:lnTo>
                    <a:pt x="0" y="44150"/>
                  </a:lnTo>
                  <a:cubicBezTo>
                    <a:pt x="0" y="19766"/>
                    <a:pt x="19766" y="0"/>
                    <a:pt x="44150" y="0"/>
                  </a:cubicBezTo>
                  <a:close/>
                </a:path>
              </a:pathLst>
            </a:custGeom>
            <a:solidFill>
              <a:srgbClr val="F9F9F9"/>
            </a:solidFill>
            <a:ln w="38100" cap="rnd">
              <a:solidFill>
                <a:srgbClr val="4634DA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016055" cy="6085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800533" y="3136542"/>
            <a:ext cx="3857834" cy="1793623"/>
            <a:chOff x="0" y="0"/>
            <a:chExt cx="1016055" cy="47239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16055" cy="472395"/>
            </a:xfrm>
            <a:custGeom>
              <a:avLst/>
              <a:gdLst/>
              <a:ahLst/>
              <a:cxnLst/>
              <a:rect l="l" t="t" r="r" b="b"/>
              <a:pathLst>
                <a:path w="1016055" h="472395">
                  <a:moveTo>
                    <a:pt x="44150" y="0"/>
                  </a:moveTo>
                  <a:lnTo>
                    <a:pt x="971905" y="0"/>
                  </a:lnTo>
                  <a:cubicBezTo>
                    <a:pt x="983615" y="0"/>
                    <a:pt x="994844" y="4651"/>
                    <a:pt x="1003124" y="12931"/>
                  </a:cubicBezTo>
                  <a:cubicBezTo>
                    <a:pt x="1011404" y="21211"/>
                    <a:pt x="1016055" y="32440"/>
                    <a:pt x="1016055" y="44150"/>
                  </a:cubicBezTo>
                  <a:lnTo>
                    <a:pt x="1016055" y="428245"/>
                  </a:lnTo>
                  <a:cubicBezTo>
                    <a:pt x="1016055" y="452628"/>
                    <a:pt x="996289" y="472395"/>
                    <a:pt x="971905" y="472395"/>
                  </a:cubicBezTo>
                  <a:lnTo>
                    <a:pt x="44150" y="472395"/>
                  </a:lnTo>
                  <a:cubicBezTo>
                    <a:pt x="19766" y="472395"/>
                    <a:pt x="0" y="452628"/>
                    <a:pt x="0" y="428245"/>
                  </a:cubicBezTo>
                  <a:lnTo>
                    <a:pt x="0" y="44150"/>
                  </a:lnTo>
                  <a:cubicBezTo>
                    <a:pt x="0" y="19766"/>
                    <a:pt x="19766" y="0"/>
                    <a:pt x="44150" y="0"/>
                  </a:cubicBezTo>
                  <a:close/>
                </a:path>
              </a:pathLst>
            </a:custGeom>
            <a:solidFill>
              <a:srgbClr val="F9F9F9"/>
            </a:solidFill>
            <a:ln w="38100" cap="rnd">
              <a:solidFill>
                <a:srgbClr val="4634DA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016055" cy="4819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830031" y="5254016"/>
            <a:ext cx="3857834" cy="1927689"/>
            <a:chOff x="0" y="0"/>
            <a:chExt cx="1016055" cy="50770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16055" cy="507704"/>
            </a:xfrm>
            <a:custGeom>
              <a:avLst/>
              <a:gdLst/>
              <a:ahLst/>
              <a:cxnLst/>
              <a:rect l="l" t="t" r="r" b="b"/>
              <a:pathLst>
                <a:path w="1016055" h="507704">
                  <a:moveTo>
                    <a:pt x="44150" y="0"/>
                  </a:moveTo>
                  <a:lnTo>
                    <a:pt x="971905" y="0"/>
                  </a:lnTo>
                  <a:cubicBezTo>
                    <a:pt x="983615" y="0"/>
                    <a:pt x="994844" y="4651"/>
                    <a:pt x="1003124" y="12931"/>
                  </a:cubicBezTo>
                  <a:cubicBezTo>
                    <a:pt x="1011404" y="21211"/>
                    <a:pt x="1016055" y="32440"/>
                    <a:pt x="1016055" y="44150"/>
                  </a:cubicBezTo>
                  <a:lnTo>
                    <a:pt x="1016055" y="463554"/>
                  </a:lnTo>
                  <a:cubicBezTo>
                    <a:pt x="1016055" y="487938"/>
                    <a:pt x="996289" y="507704"/>
                    <a:pt x="971905" y="507704"/>
                  </a:cubicBezTo>
                  <a:lnTo>
                    <a:pt x="44150" y="507704"/>
                  </a:lnTo>
                  <a:cubicBezTo>
                    <a:pt x="19766" y="507704"/>
                    <a:pt x="0" y="487938"/>
                    <a:pt x="0" y="463554"/>
                  </a:cubicBezTo>
                  <a:lnTo>
                    <a:pt x="0" y="44150"/>
                  </a:lnTo>
                  <a:cubicBezTo>
                    <a:pt x="0" y="19766"/>
                    <a:pt x="19766" y="0"/>
                    <a:pt x="44150" y="0"/>
                  </a:cubicBezTo>
                  <a:close/>
                </a:path>
              </a:pathLst>
            </a:custGeom>
            <a:solidFill>
              <a:srgbClr val="F9F9F9"/>
            </a:solidFill>
            <a:ln w="38100" cap="rnd">
              <a:solidFill>
                <a:srgbClr val="4634DA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016055" cy="5172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800533" y="7367504"/>
            <a:ext cx="3857834" cy="2225341"/>
            <a:chOff x="0" y="0"/>
            <a:chExt cx="1016055" cy="58609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16055" cy="586098"/>
            </a:xfrm>
            <a:custGeom>
              <a:avLst/>
              <a:gdLst/>
              <a:ahLst/>
              <a:cxnLst/>
              <a:rect l="l" t="t" r="r" b="b"/>
              <a:pathLst>
                <a:path w="1016055" h="586098">
                  <a:moveTo>
                    <a:pt x="44150" y="0"/>
                  </a:moveTo>
                  <a:lnTo>
                    <a:pt x="971905" y="0"/>
                  </a:lnTo>
                  <a:cubicBezTo>
                    <a:pt x="983615" y="0"/>
                    <a:pt x="994844" y="4651"/>
                    <a:pt x="1003124" y="12931"/>
                  </a:cubicBezTo>
                  <a:cubicBezTo>
                    <a:pt x="1011404" y="21211"/>
                    <a:pt x="1016055" y="32440"/>
                    <a:pt x="1016055" y="44150"/>
                  </a:cubicBezTo>
                  <a:lnTo>
                    <a:pt x="1016055" y="541948"/>
                  </a:lnTo>
                  <a:cubicBezTo>
                    <a:pt x="1016055" y="566331"/>
                    <a:pt x="996289" y="586098"/>
                    <a:pt x="971905" y="586098"/>
                  </a:cubicBezTo>
                  <a:lnTo>
                    <a:pt x="44150" y="586098"/>
                  </a:lnTo>
                  <a:cubicBezTo>
                    <a:pt x="19766" y="586098"/>
                    <a:pt x="0" y="566331"/>
                    <a:pt x="0" y="541948"/>
                  </a:cubicBezTo>
                  <a:lnTo>
                    <a:pt x="0" y="44150"/>
                  </a:lnTo>
                  <a:cubicBezTo>
                    <a:pt x="0" y="19766"/>
                    <a:pt x="19766" y="0"/>
                    <a:pt x="44150" y="0"/>
                  </a:cubicBezTo>
                  <a:close/>
                </a:path>
              </a:pathLst>
            </a:custGeom>
            <a:solidFill>
              <a:srgbClr val="F9F9F9"/>
            </a:solidFill>
            <a:ln w="38100" cap="rnd">
              <a:solidFill>
                <a:srgbClr val="4634DA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1016055" cy="595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648347" y="7473052"/>
            <a:ext cx="3944839" cy="2225341"/>
            <a:chOff x="0" y="0"/>
            <a:chExt cx="1038970" cy="58609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38970" cy="586098"/>
            </a:xfrm>
            <a:custGeom>
              <a:avLst/>
              <a:gdLst/>
              <a:ahLst/>
              <a:cxnLst/>
              <a:rect l="l" t="t" r="r" b="b"/>
              <a:pathLst>
                <a:path w="1038970" h="586098">
                  <a:moveTo>
                    <a:pt x="43176" y="0"/>
                  </a:moveTo>
                  <a:lnTo>
                    <a:pt x="995794" y="0"/>
                  </a:lnTo>
                  <a:cubicBezTo>
                    <a:pt x="1007245" y="0"/>
                    <a:pt x="1018227" y="4549"/>
                    <a:pt x="1026324" y="12646"/>
                  </a:cubicBezTo>
                  <a:cubicBezTo>
                    <a:pt x="1034421" y="20743"/>
                    <a:pt x="1038970" y="31725"/>
                    <a:pt x="1038970" y="43176"/>
                  </a:cubicBezTo>
                  <a:lnTo>
                    <a:pt x="1038970" y="542922"/>
                  </a:lnTo>
                  <a:cubicBezTo>
                    <a:pt x="1038970" y="554373"/>
                    <a:pt x="1034421" y="565355"/>
                    <a:pt x="1026324" y="573452"/>
                  </a:cubicBezTo>
                  <a:cubicBezTo>
                    <a:pt x="1018227" y="581549"/>
                    <a:pt x="1007245" y="586098"/>
                    <a:pt x="995794" y="586098"/>
                  </a:cubicBezTo>
                  <a:lnTo>
                    <a:pt x="43176" y="586098"/>
                  </a:lnTo>
                  <a:cubicBezTo>
                    <a:pt x="31725" y="586098"/>
                    <a:pt x="20743" y="581549"/>
                    <a:pt x="12646" y="573452"/>
                  </a:cubicBezTo>
                  <a:cubicBezTo>
                    <a:pt x="4549" y="565355"/>
                    <a:pt x="0" y="554373"/>
                    <a:pt x="0" y="542922"/>
                  </a:cubicBezTo>
                  <a:lnTo>
                    <a:pt x="0" y="43176"/>
                  </a:lnTo>
                  <a:cubicBezTo>
                    <a:pt x="0" y="31725"/>
                    <a:pt x="4549" y="20743"/>
                    <a:pt x="12646" y="12646"/>
                  </a:cubicBezTo>
                  <a:cubicBezTo>
                    <a:pt x="20743" y="4549"/>
                    <a:pt x="31725" y="0"/>
                    <a:pt x="43176" y="0"/>
                  </a:cubicBezTo>
                  <a:close/>
                </a:path>
              </a:pathLst>
            </a:custGeom>
            <a:solidFill>
              <a:srgbClr val="F9F9F9"/>
            </a:solidFill>
            <a:ln w="38100" cap="rnd">
              <a:solidFill>
                <a:srgbClr val="4634DA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1038970" cy="595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019720" y="7569581"/>
            <a:ext cx="4451788" cy="2225341"/>
            <a:chOff x="0" y="0"/>
            <a:chExt cx="1172487" cy="58609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72487" cy="586098"/>
            </a:xfrm>
            <a:custGeom>
              <a:avLst/>
              <a:gdLst/>
              <a:ahLst/>
              <a:cxnLst/>
              <a:rect l="l" t="t" r="r" b="b"/>
              <a:pathLst>
                <a:path w="1172487" h="586098">
                  <a:moveTo>
                    <a:pt x="38259" y="0"/>
                  </a:moveTo>
                  <a:lnTo>
                    <a:pt x="1134228" y="0"/>
                  </a:lnTo>
                  <a:cubicBezTo>
                    <a:pt x="1155358" y="0"/>
                    <a:pt x="1172487" y="17129"/>
                    <a:pt x="1172487" y="38259"/>
                  </a:cubicBezTo>
                  <a:lnTo>
                    <a:pt x="1172487" y="547839"/>
                  </a:lnTo>
                  <a:cubicBezTo>
                    <a:pt x="1172487" y="568969"/>
                    <a:pt x="1155358" y="586098"/>
                    <a:pt x="1134228" y="586098"/>
                  </a:cubicBezTo>
                  <a:lnTo>
                    <a:pt x="38259" y="586098"/>
                  </a:lnTo>
                  <a:cubicBezTo>
                    <a:pt x="17129" y="586098"/>
                    <a:pt x="0" y="568969"/>
                    <a:pt x="0" y="547839"/>
                  </a:cubicBezTo>
                  <a:lnTo>
                    <a:pt x="0" y="38259"/>
                  </a:lnTo>
                  <a:cubicBezTo>
                    <a:pt x="0" y="17129"/>
                    <a:pt x="17129" y="0"/>
                    <a:pt x="38259" y="0"/>
                  </a:cubicBezTo>
                  <a:close/>
                </a:path>
              </a:pathLst>
            </a:custGeom>
            <a:solidFill>
              <a:srgbClr val="F9F9F9"/>
            </a:solidFill>
            <a:ln w="38100" cap="rnd">
              <a:solidFill>
                <a:srgbClr val="4634DA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1172487" cy="595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80895" y="7615404"/>
            <a:ext cx="4018398" cy="2225341"/>
            <a:chOff x="0" y="0"/>
            <a:chExt cx="1058343" cy="58609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58343" cy="586098"/>
            </a:xfrm>
            <a:custGeom>
              <a:avLst/>
              <a:gdLst/>
              <a:ahLst/>
              <a:cxnLst/>
              <a:rect l="l" t="t" r="r" b="b"/>
              <a:pathLst>
                <a:path w="1058343" h="586098">
                  <a:moveTo>
                    <a:pt x="42386" y="0"/>
                  </a:moveTo>
                  <a:lnTo>
                    <a:pt x="1015958" y="0"/>
                  </a:lnTo>
                  <a:cubicBezTo>
                    <a:pt x="1027199" y="0"/>
                    <a:pt x="1037980" y="4466"/>
                    <a:pt x="1045929" y="12414"/>
                  </a:cubicBezTo>
                  <a:cubicBezTo>
                    <a:pt x="1053878" y="20363"/>
                    <a:pt x="1058343" y="31144"/>
                    <a:pt x="1058343" y="42386"/>
                  </a:cubicBezTo>
                  <a:lnTo>
                    <a:pt x="1058343" y="543712"/>
                  </a:lnTo>
                  <a:cubicBezTo>
                    <a:pt x="1058343" y="554954"/>
                    <a:pt x="1053878" y="565735"/>
                    <a:pt x="1045929" y="573683"/>
                  </a:cubicBezTo>
                  <a:cubicBezTo>
                    <a:pt x="1037980" y="581632"/>
                    <a:pt x="1027199" y="586098"/>
                    <a:pt x="1015958" y="586098"/>
                  </a:cubicBezTo>
                  <a:lnTo>
                    <a:pt x="42386" y="586098"/>
                  </a:lnTo>
                  <a:cubicBezTo>
                    <a:pt x="31144" y="586098"/>
                    <a:pt x="20363" y="581632"/>
                    <a:pt x="12414" y="573683"/>
                  </a:cubicBezTo>
                  <a:cubicBezTo>
                    <a:pt x="4466" y="565735"/>
                    <a:pt x="0" y="554954"/>
                    <a:pt x="0" y="543712"/>
                  </a:cubicBezTo>
                  <a:lnTo>
                    <a:pt x="0" y="42386"/>
                  </a:lnTo>
                  <a:cubicBezTo>
                    <a:pt x="0" y="31144"/>
                    <a:pt x="4466" y="20363"/>
                    <a:pt x="12414" y="12414"/>
                  </a:cubicBezTo>
                  <a:cubicBezTo>
                    <a:pt x="20363" y="4466"/>
                    <a:pt x="31144" y="0"/>
                    <a:pt x="42386" y="0"/>
                  </a:cubicBezTo>
                  <a:close/>
                </a:path>
              </a:pathLst>
            </a:custGeom>
            <a:solidFill>
              <a:srgbClr val="F9F9F9"/>
            </a:solidFill>
            <a:ln w="38100" cap="rnd">
              <a:solidFill>
                <a:srgbClr val="4634DA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1058343" cy="595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80895" y="5319556"/>
            <a:ext cx="4018398" cy="2119792"/>
            <a:chOff x="0" y="0"/>
            <a:chExt cx="1058343" cy="55829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58343" cy="558299"/>
            </a:xfrm>
            <a:custGeom>
              <a:avLst/>
              <a:gdLst/>
              <a:ahLst/>
              <a:cxnLst/>
              <a:rect l="l" t="t" r="r" b="b"/>
              <a:pathLst>
                <a:path w="1058343" h="558299">
                  <a:moveTo>
                    <a:pt x="42386" y="0"/>
                  </a:moveTo>
                  <a:lnTo>
                    <a:pt x="1015958" y="0"/>
                  </a:lnTo>
                  <a:cubicBezTo>
                    <a:pt x="1027199" y="0"/>
                    <a:pt x="1037980" y="4466"/>
                    <a:pt x="1045929" y="12414"/>
                  </a:cubicBezTo>
                  <a:cubicBezTo>
                    <a:pt x="1053878" y="20363"/>
                    <a:pt x="1058343" y="31144"/>
                    <a:pt x="1058343" y="42386"/>
                  </a:cubicBezTo>
                  <a:lnTo>
                    <a:pt x="1058343" y="515914"/>
                  </a:lnTo>
                  <a:cubicBezTo>
                    <a:pt x="1058343" y="527155"/>
                    <a:pt x="1053878" y="537936"/>
                    <a:pt x="1045929" y="545885"/>
                  </a:cubicBezTo>
                  <a:cubicBezTo>
                    <a:pt x="1037980" y="553834"/>
                    <a:pt x="1027199" y="558299"/>
                    <a:pt x="1015958" y="558299"/>
                  </a:cubicBezTo>
                  <a:lnTo>
                    <a:pt x="42386" y="558299"/>
                  </a:lnTo>
                  <a:cubicBezTo>
                    <a:pt x="31144" y="558299"/>
                    <a:pt x="20363" y="553834"/>
                    <a:pt x="12414" y="545885"/>
                  </a:cubicBezTo>
                  <a:cubicBezTo>
                    <a:pt x="4466" y="537936"/>
                    <a:pt x="0" y="527155"/>
                    <a:pt x="0" y="515914"/>
                  </a:cubicBezTo>
                  <a:lnTo>
                    <a:pt x="0" y="42386"/>
                  </a:lnTo>
                  <a:cubicBezTo>
                    <a:pt x="0" y="31144"/>
                    <a:pt x="4466" y="20363"/>
                    <a:pt x="12414" y="12414"/>
                  </a:cubicBezTo>
                  <a:cubicBezTo>
                    <a:pt x="20363" y="4466"/>
                    <a:pt x="31144" y="0"/>
                    <a:pt x="42386" y="0"/>
                  </a:cubicBezTo>
                  <a:close/>
                </a:path>
              </a:pathLst>
            </a:custGeom>
            <a:solidFill>
              <a:srgbClr val="F9F9F9"/>
            </a:solidFill>
            <a:ln w="38100" cap="rnd">
              <a:solidFill>
                <a:srgbClr val="4634DA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1058343" cy="567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80895" y="3023708"/>
            <a:ext cx="4018398" cy="2119792"/>
            <a:chOff x="0" y="0"/>
            <a:chExt cx="1058343" cy="55829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58343" cy="558299"/>
            </a:xfrm>
            <a:custGeom>
              <a:avLst/>
              <a:gdLst/>
              <a:ahLst/>
              <a:cxnLst/>
              <a:rect l="l" t="t" r="r" b="b"/>
              <a:pathLst>
                <a:path w="1058343" h="558299">
                  <a:moveTo>
                    <a:pt x="42386" y="0"/>
                  </a:moveTo>
                  <a:lnTo>
                    <a:pt x="1015958" y="0"/>
                  </a:lnTo>
                  <a:cubicBezTo>
                    <a:pt x="1027199" y="0"/>
                    <a:pt x="1037980" y="4466"/>
                    <a:pt x="1045929" y="12414"/>
                  </a:cubicBezTo>
                  <a:cubicBezTo>
                    <a:pt x="1053878" y="20363"/>
                    <a:pt x="1058343" y="31144"/>
                    <a:pt x="1058343" y="42386"/>
                  </a:cubicBezTo>
                  <a:lnTo>
                    <a:pt x="1058343" y="515914"/>
                  </a:lnTo>
                  <a:cubicBezTo>
                    <a:pt x="1058343" y="527155"/>
                    <a:pt x="1053878" y="537936"/>
                    <a:pt x="1045929" y="545885"/>
                  </a:cubicBezTo>
                  <a:cubicBezTo>
                    <a:pt x="1037980" y="553834"/>
                    <a:pt x="1027199" y="558299"/>
                    <a:pt x="1015958" y="558299"/>
                  </a:cubicBezTo>
                  <a:lnTo>
                    <a:pt x="42386" y="558299"/>
                  </a:lnTo>
                  <a:cubicBezTo>
                    <a:pt x="31144" y="558299"/>
                    <a:pt x="20363" y="553834"/>
                    <a:pt x="12414" y="545885"/>
                  </a:cubicBezTo>
                  <a:cubicBezTo>
                    <a:pt x="4466" y="537936"/>
                    <a:pt x="0" y="527155"/>
                    <a:pt x="0" y="515914"/>
                  </a:cubicBezTo>
                  <a:lnTo>
                    <a:pt x="0" y="42386"/>
                  </a:lnTo>
                  <a:cubicBezTo>
                    <a:pt x="0" y="31144"/>
                    <a:pt x="4466" y="20363"/>
                    <a:pt x="12414" y="12414"/>
                  </a:cubicBezTo>
                  <a:cubicBezTo>
                    <a:pt x="20363" y="4466"/>
                    <a:pt x="31144" y="0"/>
                    <a:pt x="42386" y="0"/>
                  </a:cubicBezTo>
                  <a:close/>
                </a:path>
              </a:pathLst>
            </a:custGeom>
            <a:solidFill>
              <a:srgbClr val="F9F9F9"/>
            </a:solidFill>
            <a:ln w="38100" cap="rnd">
              <a:solidFill>
                <a:srgbClr val="4634DA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1058343" cy="567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6" name="Freeform 36"/>
          <p:cNvSpPr/>
          <p:nvPr/>
        </p:nvSpPr>
        <p:spPr>
          <a:xfrm>
            <a:off x="-2530314" y="-707606"/>
            <a:ext cx="3377116" cy="3472613"/>
          </a:xfrm>
          <a:custGeom>
            <a:avLst/>
            <a:gdLst/>
            <a:ahLst/>
            <a:cxnLst/>
            <a:rect l="l" t="t" r="r" b="b"/>
            <a:pathLst>
              <a:path w="3377116" h="3472613">
                <a:moveTo>
                  <a:pt x="0" y="0"/>
                </a:moveTo>
                <a:lnTo>
                  <a:pt x="3377116" y="0"/>
                </a:lnTo>
                <a:lnTo>
                  <a:pt x="3377116" y="3472612"/>
                </a:lnTo>
                <a:lnTo>
                  <a:pt x="0" y="34726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sp>
        <p:nvSpPr>
          <p:cNvPr id="37" name="Freeform 37"/>
          <p:cNvSpPr/>
          <p:nvPr/>
        </p:nvSpPr>
        <p:spPr>
          <a:xfrm>
            <a:off x="17407091" y="762046"/>
            <a:ext cx="1186249" cy="425567"/>
          </a:xfrm>
          <a:custGeom>
            <a:avLst/>
            <a:gdLst/>
            <a:ahLst/>
            <a:cxnLst/>
            <a:rect l="l" t="t" r="r" b="b"/>
            <a:pathLst>
              <a:path w="1186249" h="425567">
                <a:moveTo>
                  <a:pt x="0" y="0"/>
                </a:moveTo>
                <a:lnTo>
                  <a:pt x="1186249" y="0"/>
                </a:lnTo>
                <a:lnTo>
                  <a:pt x="1186249" y="425567"/>
                </a:lnTo>
                <a:lnTo>
                  <a:pt x="0" y="4255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grpSp>
        <p:nvGrpSpPr>
          <p:cNvPr id="38" name="Group 38"/>
          <p:cNvGrpSpPr/>
          <p:nvPr/>
        </p:nvGrpSpPr>
        <p:grpSpPr>
          <a:xfrm>
            <a:off x="6486089" y="3344674"/>
            <a:ext cx="5681968" cy="3597652"/>
            <a:chOff x="0" y="0"/>
            <a:chExt cx="7575957" cy="4796869"/>
          </a:xfrm>
        </p:grpSpPr>
        <p:sp>
          <p:nvSpPr>
            <p:cNvPr id="39" name="Freeform 39"/>
            <p:cNvSpPr/>
            <p:nvPr/>
          </p:nvSpPr>
          <p:spPr>
            <a:xfrm>
              <a:off x="1047478" y="0"/>
              <a:ext cx="5481001" cy="4175526"/>
            </a:xfrm>
            <a:custGeom>
              <a:avLst/>
              <a:gdLst/>
              <a:ahLst/>
              <a:cxnLst/>
              <a:rect l="l" t="t" r="r" b="b"/>
              <a:pathLst>
                <a:path w="5481001" h="4175526">
                  <a:moveTo>
                    <a:pt x="0" y="0"/>
                  </a:moveTo>
                  <a:lnTo>
                    <a:pt x="5481001" y="0"/>
                  </a:lnTo>
                  <a:lnTo>
                    <a:pt x="5481001" y="4175526"/>
                  </a:lnTo>
                  <a:lnTo>
                    <a:pt x="0" y="4175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id-ID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4185051"/>
              <a:ext cx="7575957" cy="611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69"/>
                </a:lnSpc>
                <a:spcBef>
                  <a:spcPct val="0"/>
                </a:spcBef>
              </a:pPr>
              <a:r>
                <a:rPr lang="en-US" sz="3057">
                  <a:solidFill>
                    <a:srgbClr val="000000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Studio Produksi Film &amp; Animasi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58398" y="590695"/>
            <a:ext cx="4205094" cy="2274295"/>
            <a:chOff x="0" y="0"/>
            <a:chExt cx="1107515" cy="59899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07515" cy="598991"/>
            </a:xfrm>
            <a:custGeom>
              <a:avLst/>
              <a:gdLst/>
              <a:ahLst/>
              <a:cxnLst/>
              <a:rect l="l" t="t" r="r" b="b"/>
              <a:pathLst>
                <a:path w="1107515" h="598991">
                  <a:moveTo>
                    <a:pt x="40504" y="0"/>
                  </a:moveTo>
                  <a:lnTo>
                    <a:pt x="1067011" y="0"/>
                  </a:lnTo>
                  <a:cubicBezTo>
                    <a:pt x="1089380" y="0"/>
                    <a:pt x="1107515" y="18134"/>
                    <a:pt x="1107515" y="40504"/>
                  </a:cubicBezTo>
                  <a:lnTo>
                    <a:pt x="1107515" y="558487"/>
                  </a:lnTo>
                  <a:cubicBezTo>
                    <a:pt x="1107515" y="580857"/>
                    <a:pt x="1089380" y="598991"/>
                    <a:pt x="1067011" y="598991"/>
                  </a:cubicBezTo>
                  <a:lnTo>
                    <a:pt x="40504" y="598991"/>
                  </a:lnTo>
                  <a:cubicBezTo>
                    <a:pt x="18134" y="598991"/>
                    <a:pt x="0" y="580857"/>
                    <a:pt x="0" y="558487"/>
                  </a:cubicBezTo>
                  <a:lnTo>
                    <a:pt x="0" y="40504"/>
                  </a:lnTo>
                  <a:cubicBezTo>
                    <a:pt x="0" y="18134"/>
                    <a:pt x="18134" y="0"/>
                    <a:pt x="40504" y="0"/>
                  </a:cubicBezTo>
                  <a:close/>
                </a:path>
              </a:pathLst>
            </a:custGeom>
            <a:solidFill>
              <a:srgbClr val="F9F9F9"/>
            </a:solidFill>
            <a:ln w="38100" cap="rnd">
              <a:solidFill>
                <a:srgbClr val="4634DA"/>
              </a:solidFill>
              <a:prstDash val="solid"/>
              <a:round/>
            </a:ln>
          </p:spPr>
          <p:txBody>
            <a:bodyPr/>
            <a:lstStyle/>
            <a:p>
              <a:endParaRPr lang="id-ID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1107515" cy="6085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44" name="Freeform 44"/>
          <p:cNvSpPr/>
          <p:nvPr/>
        </p:nvSpPr>
        <p:spPr>
          <a:xfrm>
            <a:off x="373729" y="376259"/>
            <a:ext cx="1309943" cy="378246"/>
          </a:xfrm>
          <a:custGeom>
            <a:avLst/>
            <a:gdLst/>
            <a:ahLst/>
            <a:cxnLst/>
            <a:rect l="l" t="t" r="r" b="b"/>
            <a:pathLst>
              <a:path w="1309943" h="378246">
                <a:moveTo>
                  <a:pt x="0" y="0"/>
                </a:moveTo>
                <a:lnTo>
                  <a:pt x="1309942" y="0"/>
                </a:lnTo>
                <a:lnTo>
                  <a:pt x="1309942" y="378246"/>
                </a:lnTo>
                <a:lnTo>
                  <a:pt x="0" y="3782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grpSp>
        <p:nvGrpSpPr>
          <p:cNvPr id="45" name="Group 45"/>
          <p:cNvGrpSpPr/>
          <p:nvPr/>
        </p:nvGrpSpPr>
        <p:grpSpPr>
          <a:xfrm>
            <a:off x="582223" y="818332"/>
            <a:ext cx="3939566" cy="1946674"/>
            <a:chOff x="0" y="0"/>
            <a:chExt cx="5252755" cy="2595566"/>
          </a:xfrm>
        </p:grpSpPr>
        <p:sp>
          <p:nvSpPr>
            <p:cNvPr id="46" name="TextBox 46"/>
            <p:cNvSpPr txBox="1"/>
            <p:nvPr/>
          </p:nvSpPr>
          <p:spPr>
            <a:xfrm>
              <a:off x="893966" y="-28575"/>
              <a:ext cx="3464824" cy="434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Migrasi Arsip Lama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604841"/>
              <a:ext cx="5252755" cy="1990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1"/>
                </a:lnSpc>
                <a:spcBef>
                  <a:spcPct val="0"/>
                </a:spcBef>
              </a:pPr>
              <a:r>
                <a:rPr lang="en-US" sz="16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Studio punya arsip film puluhan tahun skala petabyte di data center lama. </a:t>
              </a:r>
              <a:r>
                <a:rPr lang="en-US" sz="1634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AWS Snowmobile </a:t>
              </a:r>
              <a:r>
                <a:rPr lang="en-US" sz="16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(truk kontainer) mindahin semuanya ke cloud sekaligus karena kegedean buat lewat internet.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254042" y="762046"/>
            <a:ext cx="3889958" cy="1956062"/>
            <a:chOff x="0" y="0"/>
            <a:chExt cx="5186610" cy="2608083"/>
          </a:xfrm>
        </p:grpSpPr>
        <p:sp>
          <p:nvSpPr>
            <p:cNvPr id="49" name="TextBox 49"/>
            <p:cNvSpPr txBox="1"/>
            <p:nvPr/>
          </p:nvSpPr>
          <p:spPr>
            <a:xfrm>
              <a:off x="152469" y="-28575"/>
              <a:ext cx="4881672" cy="434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Syuting di Lokasi Terpencil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617358"/>
              <a:ext cx="5186610" cy="1990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1"/>
                </a:lnSpc>
                <a:spcBef>
                  <a:spcPct val="0"/>
                </a:spcBef>
              </a:pPr>
              <a:r>
                <a:rPr lang="en-US" sz="16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Tim syuting di gurun/laut tanpa internet memadai. </a:t>
              </a:r>
              <a:r>
                <a:rPr lang="en-US" sz="1634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Snowball Edge </a:t>
              </a:r>
              <a:r>
                <a:rPr lang="en-US" sz="16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merekam footage 8K lalu langsung memproses (transcoding/agregasi) di lokasi pakai </a:t>
              </a:r>
              <a:r>
                <a:rPr lang="en-US" sz="1634" i="1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compute </a:t>
              </a:r>
              <a:r>
                <a:rPr lang="en-US" sz="16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bawaannya sebelum dikirim.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735351" y="754505"/>
            <a:ext cx="3625379" cy="1695043"/>
            <a:chOff x="0" y="0"/>
            <a:chExt cx="4833838" cy="2260057"/>
          </a:xfrm>
        </p:grpSpPr>
        <p:sp>
          <p:nvSpPr>
            <p:cNvPr id="52" name="TextBox 52"/>
            <p:cNvSpPr txBox="1"/>
            <p:nvPr/>
          </p:nvSpPr>
          <p:spPr>
            <a:xfrm>
              <a:off x="239573" y="-28575"/>
              <a:ext cx="4354692" cy="434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Kirim Footage ke Cloud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599532"/>
              <a:ext cx="4833838" cy="1660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1"/>
                </a:lnSpc>
                <a:spcBef>
                  <a:spcPct val="0"/>
                </a:spcBef>
              </a:pPr>
              <a:r>
                <a:rPr lang="en-US" sz="16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Ratusan TB footage mentah dikirim fisik via </a:t>
              </a:r>
              <a:r>
                <a:rPr lang="en-US" sz="1634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Snowball</a:t>
              </a:r>
              <a:r>
                <a:rPr lang="en-US" sz="16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ke </a:t>
              </a:r>
              <a:r>
                <a:rPr lang="en-US" sz="1634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AWS</a:t>
              </a:r>
              <a:r>
                <a:rPr lang="en-US" sz="16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, lalu di-import ke S3 — hitungan hari, bukan berminggu-minggu kalau diunggah online.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3963381" y="880321"/>
            <a:ext cx="3625379" cy="1695043"/>
            <a:chOff x="0" y="0"/>
            <a:chExt cx="4833838" cy="2260057"/>
          </a:xfrm>
        </p:grpSpPr>
        <p:sp>
          <p:nvSpPr>
            <p:cNvPr id="55" name="TextBox 55"/>
            <p:cNvSpPr txBox="1"/>
            <p:nvPr/>
          </p:nvSpPr>
          <p:spPr>
            <a:xfrm>
              <a:off x="239573" y="-28575"/>
              <a:ext cx="4354692" cy="434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Pusat Data Lake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599532"/>
              <a:ext cx="4833838" cy="1660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1"/>
                </a:lnSpc>
                <a:spcBef>
                  <a:spcPct val="0"/>
                </a:spcBef>
              </a:pPr>
              <a:r>
                <a:rPr lang="en-US" sz="16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Semua footage &amp; aset disimpan sebagai objek di </a:t>
              </a:r>
              <a:r>
                <a:rPr lang="en-US" sz="1634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S3 </a:t>
              </a:r>
              <a:r>
                <a:rPr lang="en-US" sz="16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dengan durabilitas 11 nines. Jadi satu sumber data (data lake) yang diakses seluruh tim produksi.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3827455" y="3200414"/>
            <a:ext cx="3625379" cy="1447393"/>
            <a:chOff x="0" y="0"/>
            <a:chExt cx="4833838" cy="1929857"/>
          </a:xfrm>
        </p:grpSpPr>
        <p:sp>
          <p:nvSpPr>
            <p:cNvPr id="58" name="TextBox 58"/>
            <p:cNvSpPr txBox="1"/>
            <p:nvPr/>
          </p:nvSpPr>
          <p:spPr>
            <a:xfrm>
              <a:off x="239573" y="-28575"/>
              <a:ext cx="4354692" cy="434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Render Farm &amp; VFX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599532"/>
              <a:ext cx="4833838" cy="1330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1"/>
                </a:lnSpc>
                <a:spcBef>
                  <a:spcPct val="0"/>
                </a:spcBef>
              </a:pPr>
              <a:r>
                <a:rPr lang="en-US" sz="16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Tim VFX menarik dataset dari S3 ke </a:t>
              </a:r>
              <a:r>
                <a:rPr lang="en-US" sz="1634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FSx for Lustre</a:t>
              </a:r>
              <a:r>
                <a:rPr lang="en-US" sz="16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berthroughput ratusan GB/s untuk rendering CGI, color grading, dan simulasi berat.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930247" y="5400282"/>
            <a:ext cx="3625379" cy="1447393"/>
            <a:chOff x="0" y="0"/>
            <a:chExt cx="4833838" cy="1929857"/>
          </a:xfrm>
        </p:grpSpPr>
        <p:sp>
          <p:nvSpPr>
            <p:cNvPr id="61" name="TextBox 61"/>
            <p:cNvSpPr txBox="1"/>
            <p:nvPr/>
          </p:nvSpPr>
          <p:spPr>
            <a:xfrm>
              <a:off x="239573" y="-28575"/>
              <a:ext cx="4354692" cy="434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Workstation Editor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599532"/>
              <a:ext cx="4833838" cy="1330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1"/>
                </a:lnSpc>
                <a:spcBef>
                  <a:spcPct val="0"/>
                </a:spcBef>
              </a:pPr>
              <a:r>
                <a:rPr lang="en-US" sz="16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Editor kerja di instans EC2 dengan volume </a:t>
              </a:r>
              <a:r>
                <a:rPr lang="en-US" sz="1634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EBS </a:t>
              </a:r>
              <a:r>
                <a:rPr lang="en-US" sz="16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io2/gp3 — IOPS tinggi &amp; latensi rendah sebagai scratch disk editing video yang mulus.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3930247" y="7600150"/>
            <a:ext cx="3625379" cy="1695043"/>
            <a:chOff x="0" y="0"/>
            <a:chExt cx="4833838" cy="2260057"/>
          </a:xfrm>
        </p:grpSpPr>
        <p:sp>
          <p:nvSpPr>
            <p:cNvPr id="64" name="TextBox 64"/>
            <p:cNvSpPr txBox="1"/>
            <p:nvPr/>
          </p:nvSpPr>
          <p:spPr>
            <a:xfrm>
              <a:off x="239573" y="-28575"/>
              <a:ext cx="4354692" cy="434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Kolaborasi Tim Linux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599532"/>
              <a:ext cx="4833838" cy="1660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1"/>
                </a:lnSpc>
                <a:spcBef>
                  <a:spcPct val="0"/>
                </a:spcBef>
              </a:pPr>
              <a:r>
                <a:rPr lang="en-US" sz="16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Banyak artist &amp; editor di beberapa AZ berbagi folder proyek lewat </a:t>
              </a:r>
              <a:r>
                <a:rPr lang="en-US" sz="1634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EFS </a:t>
              </a:r>
              <a:r>
                <a:rPr lang="en-US" sz="16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yang elastis dan auto nambah/kurang kapasitas — semua node lihat file yang sama.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1003745" y="7801298"/>
            <a:ext cx="3049887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Integrasi Kantor Lama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39783" y="8296598"/>
            <a:ext cx="3500621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1"/>
              </a:lnSpc>
              <a:spcBef>
                <a:spcPct val="0"/>
              </a:spcBef>
            </a:pPr>
            <a:r>
              <a:rPr lang="en-US" sz="16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Kantor on-premises tetap pakai aplikasi lama, tapi </a:t>
            </a:r>
            <a:r>
              <a:rPr lang="en-US" sz="163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Storage Gateway</a:t>
            </a:r>
            <a:r>
              <a:rPr lang="en-US" sz="163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kasih akses cache lokal berlatensi rendah ke data yang sebenarnya tersimpan di S3.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5254042" y="7738201"/>
            <a:ext cx="3940968" cy="1979747"/>
            <a:chOff x="0" y="0"/>
            <a:chExt cx="5254624" cy="2639662"/>
          </a:xfrm>
        </p:grpSpPr>
        <p:sp>
          <p:nvSpPr>
            <p:cNvPr id="69" name="TextBox 69"/>
            <p:cNvSpPr txBox="1"/>
            <p:nvPr/>
          </p:nvSpPr>
          <p:spPr>
            <a:xfrm>
              <a:off x="0" y="-28575"/>
              <a:ext cx="5254624" cy="434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Departemen Kantor Windows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648937"/>
              <a:ext cx="5186610" cy="1990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1"/>
                </a:lnSpc>
                <a:spcBef>
                  <a:spcPct val="0"/>
                </a:spcBef>
              </a:pPr>
              <a:r>
                <a:rPr lang="en-US" sz="1634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Amazon FSx for Windows File Server</a:t>
              </a:r>
              <a:r>
                <a:rPr lang="en-US" sz="16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— Tim finance, legal &amp; marketing pakai file share SMB native Windows dengan Active Directory &amp; izin NTFS untuk kontrak, budget, dan dokumen internal.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823331" y="7738201"/>
            <a:ext cx="3625379" cy="1695043"/>
            <a:chOff x="0" y="0"/>
            <a:chExt cx="4833838" cy="2260057"/>
          </a:xfrm>
        </p:grpSpPr>
        <p:sp>
          <p:nvSpPr>
            <p:cNvPr id="72" name="TextBox 72"/>
            <p:cNvSpPr txBox="1"/>
            <p:nvPr/>
          </p:nvSpPr>
          <p:spPr>
            <a:xfrm>
              <a:off x="239573" y="-28575"/>
              <a:ext cx="4354692" cy="434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Berbagi Lintas-Protokol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599532"/>
              <a:ext cx="4833838" cy="1660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1"/>
                </a:lnSpc>
                <a:spcBef>
                  <a:spcPct val="0"/>
                </a:spcBef>
              </a:pPr>
              <a:r>
                <a:rPr lang="en-US" sz="16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Render farm Linux (NFS) dan artist Windows (SMB) butuh akses dataset yang sama; </a:t>
              </a:r>
              <a:r>
                <a:rPr lang="en-US" sz="1634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Amazon FSx </a:t>
              </a:r>
              <a:r>
                <a:rPr lang="en-US" sz="16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ONTAP melayani dua protokol sekaligus.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77404" y="3235123"/>
            <a:ext cx="3625379" cy="1695043"/>
            <a:chOff x="0" y="0"/>
            <a:chExt cx="4833838" cy="2260057"/>
          </a:xfrm>
        </p:grpSpPr>
        <p:sp>
          <p:nvSpPr>
            <p:cNvPr id="75" name="TextBox 75"/>
            <p:cNvSpPr txBox="1"/>
            <p:nvPr/>
          </p:nvSpPr>
          <p:spPr>
            <a:xfrm>
              <a:off x="239573" y="-28575"/>
              <a:ext cx="4354692" cy="434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Perlindungan Terpusat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599532"/>
              <a:ext cx="4833838" cy="1660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1"/>
                </a:lnSpc>
                <a:spcBef>
                  <a:spcPct val="0"/>
                </a:spcBef>
              </a:pPr>
              <a:r>
                <a:rPr lang="en-US" sz="1634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AWS Backup</a:t>
              </a:r>
              <a:r>
                <a:rPr lang="en-US" sz="16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— Seluruh layanan (EBS, EFS, FSx, S3) dilindungi satu kebijakan backup terpusat — otomatis, lintas-Region, dengan Vault Lock untuk DR &amp; audit.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677404" y="5514975"/>
            <a:ext cx="3625379" cy="1695043"/>
            <a:chOff x="0" y="0"/>
            <a:chExt cx="4833838" cy="2260057"/>
          </a:xfrm>
        </p:grpSpPr>
        <p:sp>
          <p:nvSpPr>
            <p:cNvPr id="78" name="TextBox 78"/>
            <p:cNvSpPr txBox="1"/>
            <p:nvPr/>
          </p:nvSpPr>
          <p:spPr>
            <a:xfrm>
              <a:off x="239573" y="-28575"/>
              <a:ext cx="4354692" cy="434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Arsip Film Rilis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599532"/>
              <a:ext cx="4833838" cy="1660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61"/>
                </a:lnSpc>
                <a:spcBef>
                  <a:spcPct val="0"/>
                </a:spcBef>
              </a:pPr>
              <a:r>
                <a:rPr lang="en-US" sz="1634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Amazon S3 Glacier Deep Archive</a:t>
              </a:r>
              <a:r>
                <a:rPr lang="en-US" sz="1634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— Master film yang sudah rilis diarsipkan 7–10 tahun untuk preservasi &amp; kepatuhan, dengan biaya simpan paling murah.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906450" y="-215017"/>
            <a:ext cx="1720133" cy="2150166"/>
          </a:xfrm>
          <a:custGeom>
            <a:avLst/>
            <a:gdLst/>
            <a:ahLst/>
            <a:cxnLst/>
            <a:rect l="l" t="t" r="r" b="b"/>
            <a:pathLst>
              <a:path w="1720133" h="2150166">
                <a:moveTo>
                  <a:pt x="0" y="0"/>
                </a:moveTo>
                <a:lnTo>
                  <a:pt x="1720133" y="0"/>
                </a:lnTo>
                <a:lnTo>
                  <a:pt x="1720133" y="2150167"/>
                </a:lnTo>
                <a:lnTo>
                  <a:pt x="0" y="21501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sp>
        <p:nvSpPr>
          <p:cNvPr id="3" name="Freeform 3"/>
          <p:cNvSpPr/>
          <p:nvPr/>
        </p:nvSpPr>
        <p:spPr>
          <a:xfrm>
            <a:off x="1205285" y="3382113"/>
            <a:ext cx="559621" cy="568865"/>
          </a:xfrm>
          <a:custGeom>
            <a:avLst/>
            <a:gdLst/>
            <a:ahLst/>
            <a:cxnLst/>
            <a:rect l="l" t="t" r="r" b="b"/>
            <a:pathLst>
              <a:path w="559621" h="568865">
                <a:moveTo>
                  <a:pt x="0" y="0"/>
                </a:moveTo>
                <a:lnTo>
                  <a:pt x="559621" y="0"/>
                </a:lnTo>
                <a:lnTo>
                  <a:pt x="559621" y="568866"/>
                </a:lnTo>
                <a:lnTo>
                  <a:pt x="0" y="5688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" name="Freeform 4"/>
          <p:cNvSpPr/>
          <p:nvPr/>
        </p:nvSpPr>
        <p:spPr>
          <a:xfrm>
            <a:off x="1379802" y="7001556"/>
            <a:ext cx="553933" cy="568865"/>
          </a:xfrm>
          <a:custGeom>
            <a:avLst/>
            <a:gdLst/>
            <a:ahLst/>
            <a:cxnLst/>
            <a:rect l="l" t="t" r="r" b="b"/>
            <a:pathLst>
              <a:path w="553933" h="568865">
                <a:moveTo>
                  <a:pt x="0" y="0"/>
                </a:moveTo>
                <a:lnTo>
                  <a:pt x="553933" y="0"/>
                </a:lnTo>
                <a:lnTo>
                  <a:pt x="553933" y="568865"/>
                </a:lnTo>
                <a:lnTo>
                  <a:pt x="0" y="568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sp>
        <p:nvSpPr>
          <p:cNvPr id="5" name="Freeform 5"/>
          <p:cNvSpPr/>
          <p:nvPr/>
        </p:nvSpPr>
        <p:spPr>
          <a:xfrm>
            <a:off x="10289889" y="3216250"/>
            <a:ext cx="552510" cy="568865"/>
          </a:xfrm>
          <a:custGeom>
            <a:avLst/>
            <a:gdLst/>
            <a:ahLst/>
            <a:cxnLst/>
            <a:rect l="l" t="t" r="r" b="b"/>
            <a:pathLst>
              <a:path w="552510" h="568865">
                <a:moveTo>
                  <a:pt x="0" y="0"/>
                </a:moveTo>
                <a:lnTo>
                  <a:pt x="552510" y="0"/>
                </a:lnTo>
                <a:lnTo>
                  <a:pt x="552510" y="568865"/>
                </a:lnTo>
                <a:lnTo>
                  <a:pt x="0" y="568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sp>
        <p:nvSpPr>
          <p:cNvPr id="6" name="Freeform 6"/>
          <p:cNvSpPr/>
          <p:nvPr/>
        </p:nvSpPr>
        <p:spPr>
          <a:xfrm rot="3559144">
            <a:off x="7098742" y="703036"/>
            <a:ext cx="1111179" cy="2034194"/>
          </a:xfrm>
          <a:custGeom>
            <a:avLst/>
            <a:gdLst/>
            <a:ahLst/>
            <a:cxnLst/>
            <a:rect l="l" t="t" r="r" b="b"/>
            <a:pathLst>
              <a:path w="1111179" h="2034194">
                <a:moveTo>
                  <a:pt x="0" y="0"/>
                </a:moveTo>
                <a:lnTo>
                  <a:pt x="1111178" y="0"/>
                </a:lnTo>
                <a:lnTo>
                  <a:pt x="1111178" y="2034194"/>
                </a:lnTo>
                <a:lnTo>
                  <a:pt x="0" y="20341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sp>
        <p:nvSpPr>
          <p:cNvPr id="7" name="Freeform 7"/>
          <p:cNvSpPr/>
          <p:nvPr/>
        </p:nvSpPr>
        <p:spPr>
          <a:xfrm>
            <a:off x="11386186" y="6277656"/>
            <a:ext cx="5873114" cy="5175682"/>
          </a:xfrm>
          <a:custGeom>
            <a:avLst/>
            <a:gdLst/>
            <a:ahLst/>
            <a:cxnLst/>
            <a:rect l="l" t="t" r="r" b="b"/>
            <a:pathLst>
              <a:path w="5873114" h="5175682">
                <a:moveTo>
                  <a:pt x="0" y="0"/>
                </a:moveTo>
                <a:lnTo>
                  <a:pt x="5873114" y="0"/>
                </a:lnTo>
                <a:lnTo>
                  <a:pt x="5873114" y="5175681"/>
                </a:lnTo>
                <a:lnTo>
                  <a:pt x="0" y="51756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sp>
        <p:nvSpPr>
          <p:cNvPr id="8" name="Freeform 8"/>
          <p:cNvSpPr/>
          <p:nvPr/>
        </p:nvSpPr>
        <p:spPr>
          <a:xfrm>
            <a:off x="-1221541" y="7887027"/>
            <a:ext cx="2798040" cy="2972685"/>
          </a:xfrm>
          <a:custGeom>
            <a:avLst/>
            <a:gdLst/>
            <a:ahLst/>
            <a:cxnLst/>
            <a:rect l="l" t="t" r="r" b="b"/>
            <a:pathLst>
              <a:path w="2798040" h="2972685">
                <a:moveTo>
                  <a:pt x="0" y="0"/>
                </a:moveTo>
                <a:lnTo>
                  <a:pt x="2798040" y="0"/>
                </a:lnTo>
                <a:lnTo>
                  <a:pt x="2798040" y="2972685"/>
                </a:lnTo>
                <a:lnTo>
                  <a:pt x="0" y="29726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sp>
        <p:nvSpPr>
          <p:cNvPr id="9" name="TextBox 9"/>
          <p:cNvSpPr txBox="1"/>
          <p:nvPr/>
        </p:nvSpPr>
        <p:spPr>
          <a:xfrm>
            <a:off x="2150235" y="3230774"/>
            <a:ext cx="7380445" cy="301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3"/>
              </a:lnSpc>
            </a:pPr>
            <a:r>
              <a:rPr lang="en-US" sz="2202">
                <a:solidFill>
                  <a:srgbClr val="292936"/>
                </a:solidFill>
                <a:latin typeface="Poppins"/>
                <a:ea typeface="Poppins"/>
                <a:cs typeface="Poppins"/>
                <a:sym typeface="Poppins"/>
              </a:rPr>
              <a:t>AWS menyediakan portofolio storage lengkap yang dapat dipetakan ke 5 kategori sesuai kebutuhan: </a:t>
            </a:r>
            <a:r>
              <a:rPr lang="en-US" sz="2202" b="1">
                <a:solidFill>
                  <a:srgbClr val="292936"/>
                </a:solidFill>
                <a:latin typeface="Poppins Bold"/>
                <a:ea typeface="Poppins Bold"/>
                <a:cs typeface="Poppins Bold"/>
                <a:sym typeface="Poppins Bold"/>
              </a:rPr>
              <a:t>block </a:t>
            </a:r>
            <a:r>
              <a:rPr lang="en-US" sz="2202">
                <a:solidFill>
                  <a:srgbClr val="292936"/>
                </a:solidFill>
                <a:latin typeface="Poppins"/>
                <a:ea typeface="Poppins"/>
                <a:cs typeface="Poppins"/>
                <a:sym typeface="Poppins"/>
              </a:rPr>
              <a:t>(EBS) untuk disk berperforma tinggi, </a:t>
            </a:r>
            <a:r>
              <a:rPr lang="en-US" sz="2202" b="1">
                <a:solidFill>
                  <a:srgbClr val="292936"/>
                </a:solidFill>
                <a:latin typeface="Poppins Bold"/>
                <a:ea typeface="Poppins Bold"/>
                <a:cs typeface="Poppins Bold"/>
                <a:sym typeface="Poppins Bold"/>
              </a:rPr>
              <a:t>file </a:t>
            </a:r>
            <a:r>
              <a:rPr lang="en-US" sz="2202">
                <a:solidFill>
                  <a:srgbClr val="292936"/>
                </a:solidFill>
                <a:latin typeface="Poppins"/>
                <a:ea typeface="Poppins"/>
                <a:cs typeface="Poppins"/>
                <a:sym typeface="Poppins"/>
              </a:rPr>
              <a:t>(EFS &amp; keluarga FSx) untuk berbagi berkas, </a:t>
            </a:r>
            <a:r>
              <a:rPr lang="en-US" sz="2202" b="1">
                <a:solidFill>
                  <a:srgbClr val="292936"/>
                </a:solidFill>
                <a:latin typeface="Poppins Bold"/>
                <a:ea typeface="Poppins Bold"/>
                <a:cs typeface="Poppins Bold"/>
                <a:sym typeface="Poppins Bold"/>
              </a:rPr>
              <a:t>object </a:t>
            </a:r>
            <a:r>
              <a:rPr lang="en-US" sz="2202">
                <a:solidFill>
                  <a:srgbClr val="292936"/>
                </a:solidFill>
                <a:latin typeface="Poppins"/>
                <a:ea typeface="Poppins"/>
                <a:cs typeface="Poppins"/>
                <a:sym typeface="Poppins"/>
              </a:rPr>
              <a:t>(S3 &amp; Glacier) untuk data tak terstruktur &amp; arsip, data </a:t>
            </a:r>
            <a:r>
              <a:rPr lang="en-US" sz="2202" b="1">
                <a:solidFill>
                  <a:srgbClr val="292936"/>
                </a:solidFill>
                <a:latin typeface="Poppins Bold"/>
                <a:ea typeface="Poppins Bold"/>
                <a:cs typeface="Poppins Bold"/>
                <a:sym typeface="Poppins Bold"/>
              </a:rPr>
              <a:t>transfer &amp; edge</a:t>
            </a:r>
            <a:r>
              <a:rPr lang="en-US" sz="2202">
                <a:solidFill>
                  <a:srgbClr val="292936"/>
                </a:solidFill>
                <a:latin typeface="Poppins"/>
                <a:ea typeface="Poppins"/>
                <a:cs typeface="Poppins"/>
                <a:sym typeface="Poppins"/>
              </a:rPr>
              <a:t> (Snow Family) untuk migrasi massal, serta </a:t>
            </a:r>
            <a:r>
              <a:rPr lang="en-US" sz="2202" b="1">
                <a:solidFill>
                  <a:srgbClr val="292936"/>
                </a:solidFill>
                <a:latin typeface="Poppins Bold"/>
                <a:ea typeface="Poppins Bold"/>
                <a:cs typeface="Poppins Bold"/>
                <a:sym typeface="Poppins Bold"/>
              </a:rPr>
              <a:t>backup &amp; hybrid </a:t>
            </a:r>
            <a:r>
              <a:rPr lang="en-US" sz="2202">
                <a:solidFill>
                  <a:srgbClr val="292936"/>
                </a:solidFill>
                <a:latin typeface="Poppins"/>
                <a:ea typeface="Poppins"/>
                <a:cs typeface="Poppins"/>
                <a:sym typeface="Poppins"/>
              </a:rPr>
              <a:t>(AWS Backup &amp; Storage Gateway) sebagai lapisan perlindungan dan integrasi.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38143" y="3216250"/>
            <a:ext cx="6121157" cy="233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43"/>
              </a:lnSpc>
            </a:pPr>
            <a:r>
              <a:rPr lang="en-US" sz="2202">
                <a:solidFill>
                  <a:srgbClr val="292936"/>
                </a:solidFill>
                <a:latin typeface="TT Firs Neue"/>
                <a:ea typeface="TT Firs Neue"/>
                <a:cs typeface="TT Firs Neue"/>
                <a:sym typeface="TT Firs Neue"/>
              </a:rPr>
              <a:t>Prinsip cloud elastisitas, </a:t>
            </a:r>
            <a:r>
              <a:rPr lang="en-US" sz="2202" b="1">
                <a:solidFill>
                  <a:srgbClr val="29293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pay-as-you-go, </a:t>
            </a:r>
            <a:r>
              <a:rPr lang="en-US" sz="2202">
                <a:solidFill>
                  <a:srgbClr val="292936"/>
                </a:solidFill>
                <a:latin typeface="TT Firs Neue"/>
                <a:ea typeface="TT Firs Neue"/>
                <a:cs typeface="TT Firs Neue"/>
                <a:sym typeface="TT Firs Neue"/>
              </a:rPr>
              <a:t>durabilitas tinggi, dan </a:t>
            </a:r>
            <a:r>
              <a:rPr lang="en-US" sz="2202" b="1">
                <a:solidFill>
                  <a:srgbClr val="292936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managed service</a:t>
            </a:r>
            <a:r>
              <a:rPr lang="en-US" sz="2202">
                <a:solidFill>
                  <a:srgbClr val="292936"/>
                </a:solidFill>
                <a:latin typeface="TT Firs Neue"/>
                <a:ea typeface="TT Firs Neue"/>
                <a:cs typeface="TT Firs Neue"/>
                <a:sym typeface="TT Firs Neue"/>
              </a:rPr>
              <a:t> memungkinkan layanan dikombinasikan agar hemat biaya sekaligus optimal. Studi kasus studio film membuktikan bahwa ke-12 layanan bisa bekerja sebagai satu arsitektur utuh dari hulu ke hilir.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9877" y="1277923"/>
            <a:ext cx="5222410" cy="1068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292936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Kesimpulan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50235" y="6982506"/>
            <a:ext cx="7711169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3"/>
              </a:lnSpc>
            </a:pPr>
            <a:r>
              <a:rPr lang="en-US" sz="2202">
                <a:solidFill>
                  <a:srgbClr val="292936"/>
                </a:solidFill>
                <a:latin typeface="Poppins"/>
                <a:ea typeface="Poppins"/>
                <a:cs typeface="Poppins"/>
                <a:sym typeface="Poppins"/>
              </a:rPr>
              <a:t>Tidak ada </a:t>
            </a:r>
            <a:r>
              <a:rPr lang="en-US" sz="2202" b="1">
                <a:solidFill>
                  <a:srgbClr val="292936"/>
                </a:solidFill>
                <a:latin typeface="Poppins Bold"/>
                <a:ea typeface="Poppins Bold"/>
                <a:cs typeface="Poppins Bold"/>
                <a:sym typeface="Poppins Bold"/>
              </a:rPr>
              <a:t>satu layanan yang "terbaik"</a:t>
            </a:r>
            <a:r>
              <a:rPr lang="en-US" sz="2202">
                <a:solidFill>
                  <a:srgbClr val="292936"/>
                </a:solidFill>
                <a:latin typeface="Poppins"/>
                <a:ea typeface="Poppins"/>
                <a:cs typeface="Poppins"/>
                <a:sym typeface="Poppins"/>
              </a:rPr>
              <a:t> secara universal. Pemilihan bergantung pada pola akses, kebutuhan performa (IOPS, throughput, latensi), durabilitas, struktur biaya, dan lokasi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866556"/>
            <a:ext cx="16230600" cy="6394830"/>
            <a:chOff x="0" y="0"/>
            <a:chExt cx="2750634" cy="108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50633" cy="1083745"/>
            </a:xfrm>
            <a:custGeom>
              <a:avLst/>
              <a:gdLst/>
              <a:ahLst/>
              <a:cxnLst/>
              <a:rect l="l" t="t" r="r" b="b"/>
              <a:pathLst>
                <a:path w="2750633" h="1083745">
                  <a:moveTo>
                    <a:pt x="24804" y="0"/>
                  </a:moveTo>
                  <a:lnTo>
                    <a:pt x="2725830" y="0"/>
                  </a:lnTo>
                  <a:cubicBezTo>
                    <a:pt x="2732408" y="0"/>
                    <a:pt x="2738717" y="2613"/>
                    <a:pt x="2743369" y="7265"/>
                  </a:cubicBezTo>
                  <a:cubicBezTo>
                    <a:pt x="2748020" y="11916"/>
                    <a:pt x="2750633" y="18225"/>
                    <a:pt x="2750633" y="24804"/>
                  </a:cubicBezTo>
                  <a:lnTo>
                    <a:pt x="2750633" y="1058941"/>
                  </a:lnTo>
                  <a:cubicBezTo>
                    <a:pt x="2750633" y="1072640"/>
                    <a:pt x="2739529" y="1083745"/>
                    <a:pt x="2725830" y="1083745"/>
                  </a:cubicBezTo>
                  <a:lnTo>
                    <a:pt x="24804" y="1083745"/>
                  </a:lnTo>
                  <a:cubicBezTo>
                    <a:pt x="18225" y="1083745"/>
                    <a:pt x="11916" y="1081132"/>
                    <a:pt x="7265" y="1076480"/>
                  </a:cubicBezTo>
                  <a:cubicBezTo>
                    <a:pt x="2613" y="1071829"/>
                    <a:pt x="0" y="1065520"/>
                    <a:pt x="0" y="1058941"/>
                  </a:cubicBezTo>
                  <a:lnTo>
                    <a:pt x="0" y="24804"/>
                  </a:lnTo>
                  <a:cubicBezTo>
                    <a:pt x="0" y="18225"/>
                    <a:pt x="2613" y="11916"/>
                    <a:pt x="7265" y="7265"/>
                  </a:cubicBezTo>
                  <a:cubicBezTo>
                    <a:pt x="11916" y="2613"/>
                    <a:pt x="18225" y="0"/>
                    <a:pt x="24804" y="0"/>
                  </a:cubicBezTo>
                  <a:close/>
                </a:path>
              </a:pathLst>
            </a:custGeom>
            <a:blipFill>
              <a:blip r:embed="rId2"/>
              <a:stretch>
                <a:fillRect t="-22018" b="-22018"/>
              </a:stretch>
            </a:blipFill>
          </p:spPr>
          <p:txBody>
            <a:bodyPr/>
            <a:lstStyle/>
            <a:p>
              <a:endParaRPr lang="id-ID"/>
            </a:p>
          </p:txBody>
        </p:sp>
      </p:grpSp>
      <p:sp>
        <p:nvSpPr>
          <p:cNvPr id="4" name="Freeform 4"/>
          <p:cNvSpPr/>
          <p:nvPr/>
        </p:nvSpPr>
        <p:spPr>
          <a:xfrm>
            <a:off x="2536628" y="9841042"/>
            <a:ext cx="13081447" cy="891917"/>
          </a:xfrm>
          <a:custGeom>
            <a:avLst/>
            <a:gdLst/>
            <a:ahLst/>
            <a:cxnLst/>
            <a:rect l="l" t="t" r="r" b="b"/>
            <a:pathLst>
              <a:path w="13081447" h="891917">
                <a:moveTo>
                  <a:pt x="0" y="0"/>
                </a:moveTo>
                <a:lnTo>
                  <a:pt x="13081447" y="0"/>
                </a:lnTo>
                <a:lnTo>
                  <a:pt x="13081447" y="891916"/>
                </a:lnTo>
                <a:lnTo>
                  <a:pt x="0" y="8919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362" t="-836581" r="-10169" b="-626082"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5" name="Freeform 5"/>
          <p:cNvSpPr/>
          <p:nvPr/>
        </p:nvSpPr>
        <p:spPr>
          <a:xfrm>
            <a:off x="1941444" y="4299023"/>
            <a:ext cx="1738074" cy="2059940"/>
          </a:xfrm>
          <a:custGeom>
            <a:avLst/>
            <a:gdLst/>
            <a:ahLst/>
            <a:cxnLst/>
            <a:rect l="l" t="t" r="r" b="b"/>
            <a:pathLst>
              <a:path w="1738074" h="2059940">
                <a:moveTo>
                  <a:pt x="0" y="0"/>
                </a:moveTo>
                <a:lnTo>
                  <a:pt x="1738075" y="0"/>
                </a:lnTo>
                <a:lnTo>
                  <a:pt x="1738075" y="2059940"/>
                </a:lnTo>
                <a:lnTo>
                  <a:pt x="0" y="20599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6" name="Freeform 6"/>
          <p:cNvSpPr/>
          <p:nvPr/>
        </p:nvSpPr>
        <p:spPr>
          <a:xfrm rot="1247206">
            <a:off x="14341335" y="6197558"/>
            <a:ext cx="1592486" cy="1206308"/>
          </a:xfrm>
          <a:custGeom>
            <a:avLst/>
            <a:gdLst/>
            <a:ahLst/>
            <a:cxnLst/>
            <a:rect l="l" t="t" r="r" b="b"/>
            <a:pathLst>
              <a:path w="1592486" h="1206308">
                <a:moveTo>
                  <a:pt x="0" y="0"/>
                </a:moveTo>
                <a:lnTo>
                  <a:pt x="1592486" y="0"/>
                </a:lnTo>
                <a:lnTo>
                  <a:pt x="1592486" y="1206308"/>
                </a:lnTo>
                <a:lnTo>
                  <a:pt x="0" y="12063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7" name="Freeform 7"/>
          <p:cNvSpPr/>
          <p:nvPr/>
        </p:nvSpPr>
        <p:spPr>
          <a:xfrm>
            <a:off x="2410151" y="5014748"/>
            <a:ext cx="775932" cy="774962"/>
          </a:xfrm>
          <a:custGeom>
            <a:avLst/>
            <a:gdLst/>
            <a:ahLst/>
            <a:cxnLst/>
            <a:rect l="l" t="t" r="r" b="b"/>
            <a:pathLst>
              <a:path w="775932" h="774962">
                <a:moveTo>
                  <a:pt x="0" y="0"/>
                </a:moveTo>
                <a:lnTo>
                  <a:pt x="775931" y="0"/>
                </a:lnTo>
                <a:lnTo>
                  <a:pt x="775931" y="774962"/>
                </a:lnTo>
                <a:lnTo>
                  <a:pt x="0" y="7749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8" name="Freeform 8"/>
          <p:cNvSpPr/>
          <p:nvPr/>
        </p:nvSpPr>
        <p:spPr>
          <a:xfrm>
            <a:off x="-1255529" y="7315697"/>
            <a:ext cx="2798040" cy="2972685"/>
          </a:xfrm>
          <a:custGeom>
            <a:avLst/>
            <a:gdLst/>
            <a:ahLst/>
            <a:cxnLst/>
            <a:rect l="l" t="t" r="r" b="b"/>
            <a:pathLst>
              <a:path w="2798040" h="2972685">
                <a:moveTo>
                  <a:pt x="0" y="0"/>
                </a:moveTo>
                <a:lnTo>
                  <a:pt x="2798040" y="0"/>
                </a:lnTo>
                <a:lnTo>
                  <a:pt x="2798040" y="2972686"/>
                </a:lnTo>
                <a:lnTo>
                  <a:pt x="0" y="29726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sp>
        <p:nvSpPr>
          <p:cNvPr id="9" name="Freeform 9"/>
          <p:cNvSpPr/>
          <p:nvPr/>
        </p:nvSpPr>
        <p:spPr>
          <a:xfrm rot="9324989">
            <a:off x="16946998" y="6692437"/>
            <a:ext cx="2086052" cy="2216257"/>
          </a:xfrm>
          <a:custGeom>
            <a:avLst/>
            <a:gdLst/>
            <a:ahLst/>
            <a:cxnLst/>
            <a:rect l="l" t="t" r="r" b="b"/>
            <a:pathLst>
              <a:path w="2086052" h="2216257">
                <a:moveTo>
                  <a:pt x="0" y="0"/>
                </a:moveTo>
                <a:lnTo>
                  <a:pt x="2086052" y="0"/>
                </a:lnTo>
                <a:lnTo>
                  <a:pt x="2086052" y="2216257"/>
                </a:lnTo>
                <a:lnTo>
                  <a:pt x="0" y="2216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id-ID"/>
          </a:p>
        </p:txBody>
      </p:sp>
      <p:sp>
        <p:nvSpPr>
          <p:cNvPr id="10" name="Freeform 10"/>
          <p:cNvSpPr/>
          <p:nvPr/>
        </p:nvSpPr>
        <p:spPr>
          <a:xfrm>
            <a:off x="585476" y="5065172"/>
            <a:ext cx="592054" cy="263821"/>
          </a:xfrm>
          <a:custGeom>
            <a:avLst/>
            <a:gdLst/>
            <a:ahLst/>
            <a:cxnLst/>
            <a:rect l="l" t="t" r="r" b="b"/>
            <a:pathLst>
              <a:path w="592054" h="263821">
                <a:moveTo>
                  <a:pt x="0" y="0"/>
                </a:moveTo>
                <a:lnTo>
                  <a:pt x="592054" y="0"/>
                </a:lnTo>
                <a:lnTo>
                  <a:pt x="592054" y="263821"/>
                </a:lnTo>
                <a:lnTo>
                  <a:pt x="0" y="2638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80234" b="-127684"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11" name="Freeform 11"/>
          <p:cNvSpPr/>
          <p:nvPr/>
        </p:nvSpPr>
        <p:spPr>
          <a:xfrm>
            <a:off x="16194975" y="5971482"/>
            <a:ext cx="592054" cy="263821"/>
          </a:xfrm>
          <a:custGeom>
            <a:avLst/>
            <a:gdLst/>
            <a:ahLst/>
            <a:cxnLst/>
            <a:rect l="l" t="t" r="r" b="b"/>
            <a:pathLst>
              <a:path w="592054" h="263821">
                <a:moveTo>
                  <a:pt x="0" y="0"/>
                </a:moveTo>
                <a:lnTo>
                  <a:pt x="592054" y="0"/>
                </a:lnTo>
                <a:lnTo>
                  <a:pt x="592054" y="263822"/>
                </a:lnTo>
                <a:lnTo>
                  <a:pt x="0" y="2638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80234" b="-127684"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12" name="TextBox 12"/>
          <p:cNvSpPr txBox="1"/>
          <p:nvPr/>
        </p:nvSpPr>
        <p:spPr>
          <a:xfrm>
            <a:off x="4166093" y="6247627"/>
            <a:ext cx="9822518" cy="1068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spc="-374">
                <a:solidFill>
                  <a:srgbClr val="231F20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Thank you so much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862213" y="8100365"/>
            <a:ext cx="2672452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</a:pPr>
            <a:r>
              <a:rPr lang="en-US" sz="2000">
                <a:solidFill>
                  <a:srgbClr val="292936"/>
                </a:solidFill>
                <a:latin typeface="TT Firs Neue"/>
                <a:ea typeface="TT Firs Neue"/>
                <a:cs typeface="TT Firs Neue"/>
                <a:sym typeface="TT Firs Neue"/>
              </a:rPr>
              <a:t>Bakti Surya Atmaja 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292936"/>
                </a:solidFill>
                <a:latin typeface="TT Firs Neue"/>
                <a:ea typeface="TT Firs Neue"/>
                <a:cs typeface="TT Firs Neue"/>
                <a:sym typeface="TT Firs Neue"/>
              </a:rPr>
              <a:t>(102022580056)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22666" y="8160690"/>
            <a:ext cx="3324076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Catherine Cantika Larasati 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(102022580046)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78889" y="8160690"/>
            <a:ext cx="262830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Ivan Tanjaya Sutrisna 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(102022580061)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67582" y="8160690"/>
            <a:ext cx="3595836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Maheswari Maharani Mahfud 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(102022580005)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3335" y="8160690"/>
            <a:ext cx="3298775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Raihan Muhammad Syawal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(102022580011)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1656</Words>
  <Application>Microsoft Office PowerPoint</Application>
  <PresentationFormat>Custom</PresentationFormat>
  <Paragraphs>127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Heading Now 71-78</vt:lpstr>
      <vt:lpstr>TT Firs Neue</vt:lpstr>
      <vt:lpstr>Canva Sans Bold</vt:lpstr>
      <vt:lpstr>Calibri</vt:lpstr>
      <vt:lpstr>Poppins</vt:lpstr>
      <vt:lpstr>Arial</vt:lpstr>
      <vt:lpstr>Poppins Semi-Bold</vt:lpstr>
      <vt:lpstr>Poppins Semi-Bold Italics</vt:lpstr>
      <vt:lpstr>Poppins Italics</vt:lpstr>
      <vt:lpstr>Canva Sans</vt:lpstr>
      <vt:lpstr>Poppins Bold</vt:lpstr>
      <vt:lpstr>TT Firs Neue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CloudComp_P11_TugasDatabase_SI47GAB2_Kel4</dc:title>
  <cp:lastModifiedBy>MAHESWARI MAHARANI MAHFUD</cp:lastModifiedBy>
  <cp:revision>2</cp:revision>
  <dcterms:created xsi:type="dcterms:W3CDTF">2006-08-16T00:00:00Z</dcterms:created>
  <dcterms:modified xsi:type="dcterms:W3CDTF">2026-06-04T13:25:14Z</dcterms:modified>
  <dc:identifier>DAHLlGzFucw</dc:identifier>
</cp:coreProperties>
</file>